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5" name="Image 0" descr="icon_bar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PORTFOLIO MANAGEMENT WEB APP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AI-Guided Investment Portfolio Selection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project — Dr. Phillip Compeau's course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23774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463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tool for selecting and designing investment portfolios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and Interface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developed as a practical project for Dr. Phillip Compeau's course: an AI-assisted tool for selecting and designing investment portfolios.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INTERFACE FEATURES A FIXED HEADER, NAVIGATION MENUS AND EXPLANATORY GUIDES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7F9FC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2918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icon_lis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349392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2062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selector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6177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the stock index the portfolio is built 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89120" y="29718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7F9FC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32918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icon_c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242" y="349392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42062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sessions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63440" y="46177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of the number of sessions used in the calculations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297180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7F9FC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58200" y="329184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icon_glob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282" y="349392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42062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12480" y="46177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Spanish / English interface throughout the app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navigation menus organize the features into modules, each with built-in explanatory guides.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863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· Checks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78308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audit and analysis of stocks and indices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2700">
            <a:solidFill>
              <a:srgbClr val="E0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920240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</p:sp>
      <p:sp>
        <p:nvSpPr>
          <p:cNvPr id="8" name="Shape 5"/>
          <p:cNvSpPr/>
          <p:nvPr/>
        </p:nvSpPr>
        <p:spPr>
          <a:xfrm>
            <a:off x="896112" y="21579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17320" y="2057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stock audit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417320" y="245059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data, volume and change for each stock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9672" y="21579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6519672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040880" y="2057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scores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040880" y="245059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scores assigned in each session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310128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</p:sp>
      <p:sp>
        <p:nvSpPr>
          <p:cNvPr id="18" name="Shape 15"/>
          <p:cNvSpPr/>
          <p:nvPr/>
        </p:nvSpPr>
        <p:spPr>
          <a:xfrm>
            <a:off x="896112" y="3547872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6"/>
          <p:cNvSpPr/>
          <p:nvPr/>
        </p:nvSpPr>
        <p:spPr>
          <a:xfrm>
            <a:off x="896112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17320" y="34472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index variation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417320" y="38404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of the benchmark indices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63640" y="3310128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</p:sp>
      <p:sp>
        <p:nvSpPr>
          <p:cNvPr id="23" name="Shape 20"/>
          <p:cNvSpPr/>
          <p:nvPr/>
        </p:nvSpPr>
        <p:spPr>
          <a:xfrm>
            <a:off x="6519672" y="3547872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1"/>
          <p:cNvSpPr/>
          <p:nvPr/>
        </p:nvSpPr>
        <p:spPr>
          <a:xfrm>
            <a:off x="6519672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040880" y="34472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via ETF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040880" y="38404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the main components via ETF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4700016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</p:sp>
      <p:sp>
        <p:nvSpPr>
          <p:cNvPr id="28" name="Shape 25"/>
          <p:cNvSpPr/>
          <p:nvPr/>
        </p:nvSpPr>
        <p:spPr>
          <a:xfrm>
            <a:off x="896112" y="49377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6"/>
          <p:cNvSpPr/>
          <p:nvPr/>
        </p:nvSpPr>
        <p:spPr>
          <a:xfrm>
            <a:off x="896112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417320" y="483717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fundamental data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417320" y="523036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P/E, EPS, book value and dividend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63640" y="4700016"/>
            <a:ext cx="525780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</p:spPr>
      </p:sp>
      <p:sp>
        <p:nvSpPr>
          <p:cNvPr id="33" name="Shape 30"/>
          <p:cNvSpPr/>
          <p:nvPr/>
        </p:nvSpPr>
        <p:spPr>
          <a:xfrm>
            <a:off x="6519672" y="493776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Text 31"/>
          <p:cNvSpPr/>
          <p:nvPr/>
        </p:nvSpPr>
        <p:spPr>
          <a:xfrm>
            <a:off x="6519672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040880" y="483717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consensus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7040880" y="523036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consensus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_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863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· Technical Parameters for Stock Selection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783080" y="1097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of the model's optimization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10881360" cy="0"/>
          </a:xfrm>
          <a:prstGeom prst="line">
            <a:avLst/>
          </a:prstGeom>
          <a:noFill/>
          <a:ln w="12700">
            <a:solidFill>
              <a:srgbClr val="E0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9659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2402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on_repea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34" y="239481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95351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chains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68680" y="3429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execution of the full selection process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89120" y="19659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/>
        </p:spPr>
      </p:sp>
      <p:sp>
        <p:nvSpPr>
          <p:cNvPr id="13" name="Shape 9"/>
          <p:cNvSpPr/>
          <p:nvPr/>
        </p:nvSpPr>
        <p:spPr>
          <a:xfrm>
            <a:off x="4663440" y="22402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_trendingDow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974" y="239481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17720" y="295351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factors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617720" y="3429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 of the penalty applied in the model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138160" y="19659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/>
        </p:spPr>
      </p:sp>
      <p:sp>
        <p:nvSpPr>
          <p:cNvPr id="18" name="Shape 13"/>
          <p:cNvSpPr/>
          <p:nvPr/>
        </p:nvSpPr>
        <p:spPr>
          <a:xfrm>
            <a:off x="8412480" y="22402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_lay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014" y="2394814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66760" y="295351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components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366760" y="34290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stocks making up the portfolio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40080" y="43434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/>
        </p:spPr>
      </p:sp>
      <p:sp>
        <p:nvSpPr>
          <p:cNvPr id="23" name="Shape 17"/>
          <p:cNvSpPr/>
          <p:nvPr/>
        </p:nvSpPr>
        <p:spPr>
          <a:xfrm>
            <a:off x="914400" y="46177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4" descr="icon_targe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934" y="4772254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8680" y="53309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caps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868680" y="58064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weight limits per component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389120" y="43434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/>
        </p:spPr>
      </p:sp>
      <p:sp>
        <p:nvSpPr>
          <p:cNvPr id="28" name="Shape 21"/>
          <p:cNvSpPr/>
          <p:nvPr/>
        </p:nvSpPr>
        <p:spPr>
          <a:xfrm>
            <a:off x="4663440" y="46177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5" descr="icon_cloc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7974" y="4772254"/>
            <a:ext cx="285293" cy="28529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617720" y="53309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frequencies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4617720" y="58064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portfolio is reviewed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8138160" y="43434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/>
        </p:spPr>
      </p:sp>
      <p:sp>
        <p:nvSpPr>
          <p:cNvPr id="33" name="Shape 25"/>
          <p:cNvSpPr/>
          <p:nvPr/>
        </p:nvSpPr>
        <p:spPr>
          <a:xfrm>
            <a:off x="8412480" y="46177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4" name="Image 6" descr="icon_activity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7014" y="4772254"/>
            <a:ext cx="285293" cy="28529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366760" y="5330952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windows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8366760" y="58064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horizon used to test the model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_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863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· Portfolio Selection by Technical Parameters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783080" y="1097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portfolio using quantitative indicators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10881360" cy="0"/>
          </a:xfrm>
          <a:prstGeom prst="line">
            <a:avLst/>
          </a:prstGeom>
          <a:noFill/>
          <a:ln w="12700">
            <a:solidFill>
              <a:srgbClr val="E0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8288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SYMMETRICAL APPROACHES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2860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960120" y="2606040"/>
            <a:ext cx="685800" cy="68580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10" name="Image 1" descr="icon_tren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" y="27843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Strategy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60120" y="35204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based on maximizing: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60120" y="40233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1234440" y="39319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960120" y="452628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2"/>
          <p:cNvSpPr/>
          <p:nvPr/>
        </p:nvSpPr>
        <p:spPr>
          <a:xfrm>
            <a:off x="1234440" y="44348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960120" y="502920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4"/>
          <p:cNvSpPr/>
          <p:nvPr/>
        </p:nvSpPr>
        <p:spPr>
          <a:xfrm>
            <a:off x="1234440" y="49377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63640" y="22860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583680" y="26060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2" descr="icon_trendingDow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278434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5236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Contrarian Strategy (Antithesis)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583680" y="35204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based on low values of: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583680" y="40233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0"/>
          <p:cNvSpPr/>
          <p:nvPr/>
        </p:nvSpPr>
        <p:spPr>
          <a:xfrm>
            <a:off x="6858000" y="39319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583680" y="45262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0" y="44348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583680" y="502920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4"/>
          <p:cNvSpPr/>
          <p:nvPr/>
        </p:nvSpPr>
        <p:spPr>
          <a:xfrm>
            <a:off x="6858000" y="49377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_shuff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863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· Portfolio Selection by Alternative Criteria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783080" y="1097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portfolio-construction methodologies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10881360" cy="0"/>
          </a:xfrm>
          <a:prstGeom prst="line">
            <a:avLst/>
          </a:prstGeom>
          <a:noFill/>
          <a:ln w="12700">
            <a:solidFill>
              <a:srgbClr val="E0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920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17627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on_shuff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34" y="2330806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529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portfolios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68680" y="3291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control or benchmark reference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89120" y="1920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13" name="Shape 9"/>
          <p:cNvSpPr/>
          <p:nvPr/>
        </p:nvSpPr>
        <p:spPr>
          <a:xfrm>
            <a:off x="4663440" y="217627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_filetex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974" y="2330806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17720" y="28529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by fundamentals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617720" y="3291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P/E, EPS yield, book value and dividends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138160" y="19202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18" name="Shape 13"/>
          <p:cNvSpPr/>
          <p:nvPr/>
        </p:nvSpPr>
        <p:spPr>
          <a:xfrm>
            <a:off x="8412480" y="217627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_us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014" y="2330806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66760" y="28529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recommendations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8366760" y="32918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based on analyst consensus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40080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23" name="Shape 17"/>
          <p:cNvSpPr/>
          <p:nvPr/>
        </p:nvSpPr>
        <p:spPr>
          <a:xfrm>
            <a:off x="914400" y="437083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4" descr="icon_barch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934" y="4525366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8680" y="50474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models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868680" y="5486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models using Ridge regression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389120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</p:spPr>
      </p:sp>
      <p:sp>
        <p:nvSpPr>
          <p:cNvPr id="28" name="Shape 21"/>
          <p:cNvSpPr/>
          <p:nvPr/>
        </p:nvSpPr>
        <p:spPr>
          <a:xfrm>
            <a:off x="4663440" y="437083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5" descr="icon_layer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7974" y="4525366"/>
            <a:ext cx="285293" cy="28529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617720" y="50474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replicas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4617720" y="5486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portfolios that replicate an index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_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863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943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 · Analysis Module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78308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diagnostics of portfolios and indices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2700">
            <a:solidFill>
              <a:srgbClr val="E0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0574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2860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on_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246430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2221992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analyst recommendations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828800" y="262432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the correlation of portfolios and indices with analyst consensus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" y="36576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_trend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38359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28800" y="3593592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performance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828800" y="399592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the historical behavior of the different strategies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48006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7F9FC"/>
          </a:solidFill>
          <a:ln/>
        </p:spPr>
      </p:sp>
      <p:sp>
        <p:nvSpPr>
          <p:cNvPr id="18" name="Shape 13"/>
          <p:cNvSpPr/>
          <p:nvPr/>
        </p:nvSpPr>
        <p:spPr>
          <a:xfrm>
            <a:off x="914400" y="50292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_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" y="520750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28800" y="4965192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tracking fidelity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828800" y="536752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ETF tracking fidelity under UCITS regulations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icon_ale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4066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4572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6 · Low Money-Flow Anomalies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78308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research module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26387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8288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"inverted fan" behavior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26771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narrowing with an upward bias and lower downside risk, detected when trading with reduced money flows over long horizons.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337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INCLUDED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263876"/>
          </a:solidFill>
          <a:ln/>
        </p:spPr>
      </p:sp>
      <p:sp>
        <p:nvSpPr>
          <p:cNvPr id="12" name="Shape 9"/>
          <p:cNvSpPr/>
          <p:nvPr/>
        </p:nvSpPr>
        <p:spPr>
          <a:xfrm>
            <a:off x="1563624" y="4069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_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19" y="425927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" y="498348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concentration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447288" y="3749040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263876"/>
          </a:solidFill>
          <a:ln/>
        </p:spPr>
      </p:sp>
      <p:sp>
        <p:nvSpPr>
          <p:cNvPr id="16" name="Shape 12"/>
          <p:cNvSpPr/>
          <p:nvPr/>
        </p:nvSpPr>
        <p:spPr>
          <a:xfrm>
            <a:off x="4370832" y="4069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_trendingDow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027" y="425927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498348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drawdowns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54496" y="3749040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263876"/>
          </a:solidFill>
          <a:ln/>
        </p:spPr>
      </p:sp>
      <p:sp>
        <p:nvSpPr>
          <p:cNvPr id="20" name="Shape 15"/>
          <p:cNvSpPr/>
          <p:nvPr/>
        </p:nvSpPr>
        <p:spPr>
          <a:xfrm>
            <a:off x="7178040" y="4069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_bar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235" y="425927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19088" y="498348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profiles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9061704" y="3749040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263876"/>
          </a:solidFill>
          <a:ln/>
        </p:spPr>
      </p:sp>
      <p:sp>
        <p:nvSpPr>
          <p:cNvPr id="24" name="Shape 18"/>
          <p:cNvSpPr/>
          <p:nvPr/>
        </p:nvSpPr>
        <p:spPr>
          <a:xfrm>
            <a:off x="9985248" y="4069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icon_checkcir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443" y="4259275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226296" y="4983480"/>
            <a:ext cx="224942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return measurements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_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7863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5029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7 · Neural Network Comparison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83080" y="10972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experiment to calibrate two ways of learning to score stocks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10881360" cy="0"/>
          </a:xfrm>
          <a:prstGeom prst="line">
            <a:avLst/>
          </a:prstGeom>
          <a:noFill/>
          <a:ln w="12700">
            <a:solidFill>
              <a:srgbClr val="E0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8288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THE SAME WALK-FORWARD VALIDATION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251460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_barchar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" y="271668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25146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783080" y="294436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model trained to score stocks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63640" y="21945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37960" y="251460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_cpu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042" y="271668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06640" y="25146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Neural Network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406640" y="294436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model trained on the same task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8862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40416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AGGREGATED ACROSS SEVERAL INDICES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914400" y="440740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model showed a reliable advantage. It confirms, with a more demanding validation method, the same result already obtained with the multi-factor model.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approaches tested in this project have demonstrated a reliable predictive edge over applying no criterion at all.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modules, one integrated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23774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26387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911096"/>
            <a:ext cx="548640" cy="54864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7" name="Image 0" descr="icon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062" y="2053742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587752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21024" y="169164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263876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0" y="1911096"/>
            <a:ext cx="548640" cy="54864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11" name="Image 1" descr="icon_slid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126" y="2053742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03904" y="2587752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Parameters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19088" y="169164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263876"/>
          </a:solidFill>
          <a:ln/>
        </p:spPr>
      </p:sp>
      <p:sp>
        <p:nvSpPr>
          <p:cNvPr id="14" name="Shape 10"/>
          <p:cNvSpPr/>
          <p:nvPr/>
        </p:nvSpPr>
        <p:spPr>
          <a:xfrm>
            <a:off x="6638544" y="1911096"/>
            <a:ext cx="548640" cy="54864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15" name="Image 2" descr="icon_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190" y="2053742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01968" y="2587752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by Technical Parameters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217152" y="1691640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263876"/>
          </a:solidFill>
          <a:ln/>
        </p:spPr>
      </p:sp>
      <p:sp>
        <p:nvSpPr>
          <p:cNvPr id="18" name="Shape 13"/>
          <p:cNvSpPr/>
          <p:nvPr/>
        </p:nvSpPr>
        <p:spPr>
          <a:xfrm>
            <a:off x="9436608" y="1911096"/>
            <a:ext cx="548640" cy="54864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19" name="Image 3" descr="icon_shuff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9254" y="2053742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400032" y="2587752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Criteria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22960" y="3913632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263876"/>
          </a:solidFill>
          <a:ln/>
        </p:spPr>
      </p:sp>
      <p:sp>
        <p:nvSpPr>
          <p:cNvPr id="22" name="Shape 16"/>
          <p:cNvSpPr/>
          <p:nvPr/>
        </p:nvSpPr>
        <p:spPr>
          <a:xfrm>
            <a:off x="1042416" y="4133088"/>
            <a:ext cx="548640" cy="54864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23" name="Image 4" descr="icon_activit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062" y="4275734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4809744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Module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621024" y="3913632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263876"/>
          </a:solidFill>
          <a:ln/>
        </p:spPr>
      </p:sp>
      <p:sp>
        <p:nvSpPr>
          <p:cNvPr id="26" name="Shape 19"/>
          <p:cNvSpPr/>
          <p:nvPr/>
        </p:nvSpPr>
        <p:spPr>
          <a:xfrm>
            <a:off x="3840480" y="4133088"/>
            <a:ext cx="548640" cy="54864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27" name="Image 5" descr="icon_ale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3126" y="4275734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03904" y="4809744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Money-Flow Anomalies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6419088" y="3913632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263876"/>
          </a:solidFill>
          <a:ln/>
        </p:spPr>
      </p:sp>
      <p:sp>
        <p:nvSpPr>
          <p:cNvPr id="30" name="Shape 22"/>
          <p:cNvSpPr/>
          <p:nvPr/>
        </p:nvSpPr>
        <p:spPr>
          <a:xfrm>
            <a:off x="6638544" y="4133088"/>
            <a:ext cx="548640" cy="548640"/>
          </a:xfrm>
          <a:prstGeom prst="ellipse">
            <a:avLst/>
          </a:prstGeom>
          <a:solidFill>
            <a:srgbClr val="324A9B"/>
          </a:solidFill>
          <a:ln/>
        </p:spPr>
      </p:sp>
      <p:pic>
        <p:nvPicPr>
          <p:cNvPr id="31" name="Image 6" descr="icon_cpu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190" y="4275734"/>
            <a:ext cx="263347" cy="263347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601968" y="4809744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Comparison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2026-08-08T20:44:04Z</dcterms:created>
  <dcterms:modified xsi:type="dcterms:W3CDTF">2026-08-08T20:44:04Z</dcterms:modified>
</cp:coreProperties>
</file>