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5486400" cy="54864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3657600" cy="36576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822960" cy="82296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5" name="Image 0" descr="icon_barchar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99121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3317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AI-GUIDED PORTFOLIO MANAGEMENT WEB APP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78892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AI-Guided Investment Portfolio Selection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project — Dr. Phillip Compeau's course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4617720"/>
            <a:ext cx="23774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84632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AI-assisted tool for selecting and designing investment portfolios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and Interface Structure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 application developed as a practical project for Dr. Phillip Compeau's course: an AI-assisted tool for selecting and designing investment portfolios.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INTERFACE FEATURES A FIXED HEADER, NAVIGATION MENUS AND EXPLANATORY GUIDES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29184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0" descr="icon_list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202" y="3493922"/>
            <a:ext cx="373075" cy="3730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420624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selector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461772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of the stock index the portfolio is built 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9120" y="297180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329184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1" descr="icon_cloc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242" y="3493922"/>
            <a:ext cx="373075" cy="37307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420624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sessions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63440" y="461772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of the number of sessions used in the calculations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297180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58200" y="329184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8" name="Image 2" descr="icon_glob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0282" y="3493922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12480" y="420624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12480" y="461772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Spanish / English interface throughout the app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navigation menus organize the features into modules, each with built-in explanatory guides.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sear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1 · Checks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1783080" y="10515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In-depth audit and analysis of stocks and indices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920240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8" name="Shape 5"/>
          <p:cNvSpPr/>
          <p:nvPr/>
        </p:nvSpPr>
        <p:spPr>
          <a:xfrm>
            <a:off x="896112" y="2157984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" y="21579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17320" y="2057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stock audit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417320" y="245059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data, volume and change for each stock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9672" y="2157984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1"/>
          <p:cNvSpPr/>
          <p:nvPr/>
        </p:nvSpPr>
        <p:spPr>
          <a:xfrm>
            <a:off x="6519672" y="21579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040880" y="2057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scores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040880" y="245059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scores assigned in each session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" y="3310128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3547872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35478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417320" y="3447288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index variation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417320" y="3840480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trend of the benchmark indices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3310128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23" name="Shape 20"/>
          <p:cNvSpPr/>
          <p:nvPr/>
        </p:nvSpPr>
        <p:spPr>
          <a:xfrm>
            <a:off x="6519672" y="3547872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1"/>
          <p:cNvSpPr/>
          <p:nvPr/>
        </p:nvSpPr>
        <p:spPr>
          <a:xfrm>
            <a:off x="6519672" y="35478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040880" y="3447288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via ETF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7040880" y="3840480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the main components via ETF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0080" y="4700016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28" name="Shape 25"/>
          <p:cNvSpPr/>
          <p:nvPr/>
        </p:nvSpPr>
        <p:spPr>
          <a:xfrm>
            <a:off x="896112" y="4937760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9" name="Text 26"/>
          <p:cNvSpPr/>
          <p:nvPr/>
        </p:nvSpPr>
        <p:spPr>
          <a:xfrm>
            <a:off x="896112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1417320" y="4837176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fundamental data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1417320" y="5230368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P/E, EPS, book value and dividend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263640" y="4700016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33" name="Shape 30"/>
          <p:cNvSpPr/>
          <p:nvPr/>
        </p:nvSpPr>
        <p:spPr>
          <a:xfrm>
            <a:off x="6519672" y="4937760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4" name="Text 31"/>
          <p:cNvSpPr/>
          <p:nvPr/>
        </p:nvSpPr>
        <p:spPr>
          <a:xfrm>
            <a:off x="6519672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040880" y="4837176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consensus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7040880" y="5230368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consensus recommendations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slide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0292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2 · Technical Parameters for Stock Selection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783080" y="10972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of the model's optimization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96596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224028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icon_repea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3948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9535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chains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42900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execution of the full selection process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89120" y="196596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13" name="Shape 9"/>
          <p:cNvSpPr/>
          <p:nvPr/>
        </p:nvSpPr>
        <p:spPr>
          <a:xfrm>
            <a:off x="4663440" y="224028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2" descr="icon_trendingDown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974" y="239481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17720" y="29535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factors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4617720" y="342900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Adjustment of the penalty applied in the model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138160" y="196596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18" name="Shape 13"/>
          <p:cNvSpPr/>
          <p:nvPr/>
        </p:nvSpPr>
        <p:spPr>
          <a:xfrm>
            <a:off x="8412480" y="224028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3" descr="icon_layers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7014" y="2394814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66760" y="29535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components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8366760" y="342900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stocks making up the portfolio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0080" y="434340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23" name="Shape 17"/>
          <p:cNvSpPr/>
          <p:nvPr/>
        </p:nvSpPr>
        <p:spPr>
          <a:xfrm>
            <a:off x="914400" y="461772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4" name="Image 4" descr="icon_targe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8934" y="4772254"/>
            <a:ext cx="285293" cy="28529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8680" y="533095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 caps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868680" y="58064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weight limits per component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4389120" y="434340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28" name="Shape 21"/>
          <p:cNvSpPr/>
          <p:nvPr/>
        </p:nvSpPr>
        <p:spPr>
          <a:xfrm>
            <a:off x="4663440" y="461772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9" name="Image 5" descr="icon_clo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7974" y="4772254"/>
            <a:ext cx="285293" cy="285293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617720" y="533095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Rebalancing frequencies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4617720" y="58064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the portfolio is reviewed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8138160" y="434340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33" name="Shape 25"/>
          <p:cNvSpPr/>
          <p:nvPr/>
        </p:nvSpPr>
        <p:spPr>
          <a:xfrm>
            <a:off x="8412480" y="461772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4" name="Image 6" descr="icon_activity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014" y="4772254"/>
            <a:ext cx="285293" cy="285293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366760" y="533095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windows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8366760" y="58064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horizon used to test the model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targe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0292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3 · Portfolio Selection by Technical Parameters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783080" y="10972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portfolio using quantitative indicators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8288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SYMMETRICAL APPROACHES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1E2761"/>
          </a:solidFill>
          <a:ln/>
        </p:spPr>
      </p:sp>
      <p:sp>
        <p:nvSpPr>
          <p:cNvPr id="9" name="Shape 6"/>
          <p:cNvSpPr/>
          <p:nvPr/>
        </p:nvSpPr>
        <p:spPr>
          <a:xfrm>
            <a:off x="960120" y="2606040"/>
            <a:ext cx="685800" cy="68580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10" name="Image 1" descr="icon_trending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" y="278434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6974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Strategy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60120" y="3520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based on maximizing: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60120" y="4023360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0"/>
          <p:cNvSpPr/>
          <p:nvPr/>
        </p:nvSpPr>
        <p:spPr>
          <a:xfrm>
            <a:off x="1234440" y="39319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960120" y="4526280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2"/>
          <p:cNvSpPr/>
          <p:nvPr/>
        </p:nvSpPr>
        <p:spPr>
          <a:xfrm>
            <a:off x="1234440" y="44348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960120" y="5029200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4"/>
          <p:cNvSpPr/>
          <p:nvPr/>
        </p:nvSpPr>
        <p:spPr>
          <a:xfrm>
            <a:off x="1234440" y="49377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flow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63640" y="228600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83680" y="260604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2" descr="icon_trendingDown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988" y="2784348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452360" y="26974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Contrarian Strategy (Antithesis)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583680" y="3520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based on low values of: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6583680" y="402336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0"/>
          <p:cNvSpPr/>
          <p:nvPr/>
        </p:nvSpPr>
        <p:spPr>
          <a:xfrm>
            <a:off x="6858000" y="39319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6583680" y="45262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2"/>
          <p:cNvSpPr/>
          <p:nvPr/>
        </p:nvSpPr>
        <p:spPr>
          <a:xfrm>
            <a:off x="6858000" y="44348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6583680" y="502920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4"/>
          <p:cNvSpPr/>
          <p:nvPr/>
        </p:nvSpPr>
        <p:spPr>
          <a:xfrm>
            <a:off x="6858000" y="49377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flow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shuff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0292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4 · Portfolio Selection by Alternative Criteria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783080" y="10972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portfolio-construction methodologies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92024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217627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icon_shuffl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330806"/>
            <a:ext cx="285293" cy="28529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52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portfolios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2918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as a control or benchmark reference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89120" y="192024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13" name="Shape 9"/>
          <p:cNvSpPr/>
          <p:nvPr/>
        </p:nvSpPr>
        <p:spPr>
          <a:xfrm>
            <a:off x="4663440" y="217627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2" descr="icon_filetext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974" y="2330806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17720" y="2852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by fundamentals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4617720" y="32918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P/E, EPS yield, book value and dividends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18" name="Shape 13"/>
          <p:cNvSpPr/>
          <p:nvPr/>
        </p:nvSpPr>
        <p:spPr>
          <a:xfrm>
            <a:off x="8412480" y="217627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3" descr="icon_users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7014" y="233080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66760" y="2852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recommendations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8366760" y="32918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based on analyst consensus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0080" y="4114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23" name="Shape 17"/>
          <p:cNvSpPr/>
          <p:nvPr/>
        </p:nvSpPr>
        <p:spPr>
          <a:xfrm>
            <a:off x="914400" y="437083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4" name="Image 4" descr="icon_barchar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8934" y="4525366"/>
            <a:ext cx="285293" cy="28529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8680" y="504748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Multi-factor models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868680" y="54864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models using Ridge regression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4389120" y="4114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28" name="Shape 21"/>
          <p:cNvSpPr/>
          <p:nvPr/>
        </p:nvSpPr>
        <p:spPr>
          <a:xfrm>
            <a:off x="4663440" y="437083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9" name="Image 5" descr="icon_layers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7974" y="4525366"/>
            <a:ext cx="285293" cy="285293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617720" y="504748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replicas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4617720" y="54864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portfolios that replicate an index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activit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943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5 · Analysis Module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1783080" y="10515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diagnostics of portfolios and indices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0574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228600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icon_users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" y="246430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28800" y="2221992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with analyst recommendations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828800" y="26243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Assessing the correlation of portfolios and indices with analyst consensus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34290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/>
        </p:spPr>
      </p:sp>
      <p:sp>
        <p:nvSpPr>
          <p:cNvPr id="13" name="Shape 9"/>
          <p:cNvSpPr/>
          <p:nvPr/>
        </p:nvSpPr>
        <p:spPr>
          <a:xfrm>
            <a:off x="914400" y="365760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2" descr="icon_trending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" y="383590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28800" y="3593592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performance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1828800" y="39959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the historical behavior of the different strategies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40080" y="48006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/>
        </p:spPr>
      </p:sp>
      <p:sp>
        <p:nvSpPr>
          <p:cNvPr id="18" name="Shape 13"/>
          <p:cNvSpPr/>
          <p:nvPr/>
        </p:nvSpPr>
        <p:spPr>
          <a:xfrm>
            <a:off x="914400" y="502920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3" descr="icon_checkcircl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" y="5207508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28800" y="4965192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ETF tracking fidelity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828800" y="53675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ETF tracking fidelity under UCITS regulations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914400" cy="9144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4" name="Image 0" descr="icon_alert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4066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45720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6 · Low Money-Flow Anomalies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783080" y="10515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research module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16916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263876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8288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"inverted fan" behavior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267712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temporary narrowing with an upward bias and lower downside risk, detected when trading with reduced money flows over long horizons.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33375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INCLUDED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2578608" cy="2377440"/>
          </a:xfrm>
          <a:prstGeom prst="roundRect">
            <a:avLst>
              <a:gd name="adj" fmla="val 3846"/>
            </a:avLst>
          </a:prstGeom>
          <a:solidFill>
            <a:srgbClr val="263876"/>
          </a:solidFill>
          <a:ln/>
        </p:spPr>
      </p:sp>
      <p:sp>
        <p:nvSpPr>
          <p:cNvPr id="12" name="Shape 9"/>
          <p:cNvSpPr/>
          <p:nvPr/>
        </p:nvSpPr>
        <p:spPr>
          <a:xfrm>
            <a:off x="1563624" y="40690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icon_targe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819" y="425927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4672" y="4983480"/>
            <a:ext cx="22494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concentration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447288" y="3749040"/>
            <a:ext cx="2578608" cy="2377440"/>
          </a:xfrm>
          <a:prstGeom prst="roundRect">
            <a:avLst>
              <a:gd name="adj" fmla="val 3846"/>
            </a:avLst>
          </a:prstGeom>
          <a:solidFill>
            <a:srgbClr val="263876"/>
          </a:solidFill>
          <a:ln/>
        </p:spPr>
      </p:sp>
      <p:sp>
        <p:nvSpPr>
          <p:cNvPr id="16" name="Shape 12"/>
          <p:cNvSpPr/>
          <p:nvPr/>
        </p:nvSpPr>
        <p:spPr>
          <a:xfrm>
            <a:off x="4370832" y="40690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icon_trendingDow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027" y="4259275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611880" y="4983480"/>
            <a:ext cx="22494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drawdowns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54496" y="3749040"/>
            <a:ext cx="2578608" cy="2377440"/>
          </a:xfrm>
          <a:prstGeom prst="roundRect">
            <a:avLst>
              <a:gd name="adj" fmla="val 3846"/>
            </a:avLst>
          </a:prstGeom>
          <a:solidFill>
            <a:srgbClr val="263876"/>
          </a:solidFill>
          <a:ln/>
        </p:spPr>
      </p:sp>
      <p:sp>
        <p:nvSpPr>
          <p:cNvPr id="20" name="Shape 15"/>
          <p:cNvSpPr/>
          <p:nvPr/>
        </p:nvSpPr>
        <p:spPr>
          <a:xfrm>
            <a:off x="7178040" y="40690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icon_barchar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8235" y="4259275"/>
            <a:ext cx="351130" cy="3511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419088" y="4983480"/>
            <a:ext cx="22494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profiles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9061704" y="3749040"/>
            <a:ext cx="2578608" cy="2377440"/>
          </a:xfrm>
          <a:prstGeom prst="roundRect">
            <a:avLst>
              <a:gd name="adj" fmla="val 3846"/>
            </a:avLst>
          </a:prstGeom>
          <a:solidFill>
            <a:srgbClr val="263876"/>
          </a:solidFill>
          <a:ln/>
        </p:spPr>
      </p:sp>
      <p:sp>
        <p:nvSpPr>
          <p:cNvPr id="24" name="Shape 18"/>
          <p:cNvSpPr/>
          <p:nvPr/>
        </p:nvSpPr>
        <p:spPr>
          <a:xfrm>
            <a:off x="9985248" y="40690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4" descr="icon_checkcircl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5443" y="4259275"/>
            <a:ext cx="351130" cy="35113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226296" y="4983480"/>
            <a:ext cx="22494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return measurements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029200" cy="50292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modules, one integrated platform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23774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3383280" cy="2148840"/>
          </a:xfrm>
          <a:prstGeom prst="roundRect">
            <a:avLst>
              <a:gd name="adj" fmla="val 4255"/>
            </a:avLst>
          </a:prstGeom>
          <a:solidFill>
            <a:srgbClr val="263876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2084832"/>
            <a:ext cx="640080" cy="64008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7" name="Image 0" descr="icon_sear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5413" y="2251253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288036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26280" y="1828800"/>
            <a:ext cx="3383280" cy="2148840"/>
          </a:xfrm>
          <a:prstGeom prst="roundRect">
            <a:avLst>
              <a:gd name="adj" fmla="val 4255"/>
            </a:avLst>
          </a:prstGeom>
          <a:solidFill>
            <a:srgbClr val="263876"/>
          </a:solidFill>
          <a:ln/>
        </p:spPr>
      </p:sp>
      <p:sp>
        <p:nvSpPr>
          <p:cNvPr id="10" name="Shape 7"/>
          <p:cNvSpPr/>
          <p:nvPr/>
        </p:nvSpPr>
        <p:spPr>
          <a:xfrm>
            <a:off x="4782312" y="2084832"/>
            <a:ext cx="640080" cy="64008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11" name="Image 1" descr="icon_slider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733" y="2251253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288036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Parameters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29600" y="1828800"/>
            <a:ext cx="3383280" cy="2148840"/>
          </a:xfrm>
          <a:prstGeom prst="roundRect">
            <a:avLst>
              <a:gd name="adj" fmla="val 4255"/>
            </a:avLst>
          </a:prstGeom>
          <a:solidFill>
            <a:srgbClr val="263876"/>
          </a:solidFill>
          <a:ln/>
        </p:spPr>
      </p:sp>
      <p:sp>
        <p:nvSpPr>
          <p:cNvPr id="14" name="Shape 10"/>
          <p:cNvSpPr/>
          <p:nvPr/>
        </p:nvSpPr>
        <p:spPr>
          <a:xfrm>
            <a:off x="8485632" y="2084832"/>
            <a:ext cx="640080" cy="64008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15" name="Image 2" descr="icon_targe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2053" y="22512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58200" y="288036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by Technical Parameters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22960" y="4251960"/>
            <a:ext cx="3383280" cy="2148840"/>
          </a:xfrm>
          <a:prstGeom prst="roundRect">
            <a:avLst>
              <a:gd name="adj" fmla="val 4255"/>
            </a:avLst>
          </a:prstGeom>
          <a:solidFill>
            <a:srgbClr val="263876"/>
          </a:solidFill>
          <a:ln/>
        </p:spPr>
      </p:sp>
      <p:sp>
        <p:nvSpPr>
          <p:cNvPr id="18" name="Shape 13"/>
          <p:cNvSpPr/>
          <p:nvPr/>
        </p:nvSpPr>
        <p:spPr>
          <a:xfrm>
            <a:off x="1078992" y="4507992"/>
            <a:ext cx="640080" cy="64008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19" name="Image 3" descr="icon_shuffl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5413" y="4674413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51560" y="530352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Criteria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526280" y="4251960"/>
            <a:ext cx="3383280" cy="2148840"/>
          </a:xfrm>
          <a:prstGeom prst="roundRect">
            <a:avLst>
              <a:gd name="adj" fmla="val 4255"/>
            </a:avLst>
          </a:prstGeom>
          <a:solidFill>
            <a:srgbClr val="263876"/>
          </a:solidFill>
          <a:ln/>
        </p:spPr>
      </p:sp>
      <p:sp>
        <p:nvSpPr>
          <p:cNvPr id="22" name="Shape 16"/>
          <p:cNvSpPr/>
          <p:nvPr/>
        </p:nvSpPr>
        <p:spPr>
          <a:xfrm>
            <a:off x="4782312" y="4507992"/>
            <a:ext cx="640080" cy="64008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23" name="Image 4" descr="icon_activity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8733" y="4674413"/>
            <a:ext cx="307238" cy="30723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754880" y="530352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Module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8229600" y="4251960"/>
            <a:ext cx="3383280" cy="2148840"/>
          </a:xfrm>
          <a:prstGeom prst="roundRect">
            <a:avLst>
              <a:gd name="adj" fmla="val 4255"/>
            </a:avLst>
          </a:prstGeom>
          <a:solidFill>
            <a:srgbClr val="263876"/>
          </a:solidFill>
          <a:ln/>
        </p:spPr>
      </p:sp>
      <p:sp>
        <p:nvSpPr>
          <p:cNvPr id="26" name="Shape 19"/>
          <p:cNvSpPr/>
          <p:nvPr/>
        </p:nvSpPr>
        <p:spPr>
          <a:xfrm>
            <a:off x="8485632" y="4507992"/>
            <a:ext cx="640080" cy="64008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27" name="Image 5" descr="icon_alert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2053" y="4674413"/>
            <a:ext cx="307238" cy="30723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458200" y="530352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Money-Flow Anomalies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2026-08-05T16:37:58Z</dcterms:created>
  <dcterms:modified xsi:type="dcterms:W3CDTF">2026-08-05T16:37:58Z</dcterms:modified>
</cp:coreProperties>
</file>