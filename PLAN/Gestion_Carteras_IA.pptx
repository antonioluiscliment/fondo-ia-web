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1645920"/>
            <a:ext cx="5486400" cy="5486400"/>
          </a:xfrm>
          <a:prstGeom prst="ellipse">
            <a:avLst/>
          </a:prstGeom>
          <a:solidFill>
            <a:srgbClr val="263876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4206240"/>
            <a:ext cx="3657600" cy="3657600"/>
          </a:xfrm>
          <a:prstGeom prst="ellipse">
            <a:avLst/>
          </a:prstGeom>
          <a:solidFill>
            <a:srgbClr val="263876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777240"/>
            <a:ext cx="822960" cy="822960"/>
          </a:xfrm>
          <a:prstGeom prst="ellipse">
            <a:avLst/>
          </a:prstGeom>
          <a:solidFill>
            <a:srgbClr val="324A9B"/>
          </a:solidFill>
          <a:ln/>
        </p:spPr>
      </p:sp>
      <p:pic>
        <p:nvPicPr>
          <p:cNvPr id="5" name="Image 0" descr="icon_barchart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6930" y="991210"/>
            <a:ext cx="395021" cy="39502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233172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 WEB DE GESTIÓN DE CARTERAS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22960" y="278892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Selección de Carteras de Inversión Guiada por IA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822960" y="397764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práctico — Curso del Dr. Phillip Compeau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822960" y="4617720"/>
            <a:ext cx="2377440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4846320"/>
            <a:ext cx="8961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 de selección y diseño de carteras de inversión asistida por inteligencia artificial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56032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Resumen y estructura de la interfaz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508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 web desarrollada como proyecto práctico para el curso del Dr. Phillip Compeau: una herramienta de selección y diseño de carteras de inversión asistida por IA.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40080" y="233172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INTERFAZ CUENTA CON UNA CABECERA INVARIABLE, MENÚS DE NAVEGACIÓN Y GUÍAS EXPLICATIVAS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2971800"/>
            <a:ext cx="3429000" cy="2331720"/>
          </a:xfrm>
          <a:prstGeom prst="roundRect">
            <a:avLst>
              <a:gd name="adj" fmla="val 3922"/>
            </a:avLst>
          </a:prstGeom>
          <a:solidFill>
            <a:srgbClr val="F7F9FC"/>
          </a:solidFill>
          <a:ln w="12700">
            <a:solidFill>
              <a:srgbClr val="E0E6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60120" y="3291840"/>
            <a:ext cx="777240" cy="77724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8" name="Image 0" descr="icon_list_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2202" y="3493922"/>
            <a:ext cx="373075" cy="373075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14400" y="4206240"/>
            <a:ext cx="2880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Selector de índice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914400" y="4617720"/>
            <a:ext cx="2880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Elección del índice bursátil sobre el que se construye la cartera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89120" y="2971800"/>
            <a:ext cx="3429000" cy="2331720"/>
          </a:xfrm>
          <a:prstGeom prst="roundRect">
            <a:avLst>
              <a:gd name="adj" fmla="val 3922"/>
            </a:avLst>
          </a:prstGeom>
          <a:solidFill>
            <a:srgbClr val="F7F9FC"/>
          </a:solidFill>
          <a:ln w="12700">
            <a:solidFill>
              <a:srgbClr val="E0E6F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709160" y="3291840"/>
            <a:ext cx="777240" cy="77724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3" name="Image 1" descr="icon_clock_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1242" y="3493922"/>
            <a:ext cx="373075" cy="373075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663440" y="4206240"/>
            <a:ext cx="2880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Sesiones promediadas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4663440" y="4617720"/>
            <a:ext cx="2880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del número de sesiones usadas en los cálculos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8138160" y="2971800"/>
            <a:ext cx="3429000" cy="2331720"/>
          </a:xfrm>
          <a:prstGeom prst="roundRect">
            <a:avLst>
              <a:gd name="adj" fmla="val 3922"/>
            </a:avLst>
          </a:prstGeom>
          <a:solidFill>
            <a:srgbClr val="F7F9FC"/>
          </a:solidFill>
          <a:ln w="12700">
            <a:solidFill>
              <a:srgbClr val="E0E6F0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8458200" y="3291840"/>
            <a:ext cx="777240" cy="77724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8" name="Image 2" descr="icon_globe_nav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60282" y="3493922"/>
            <a:ext cx="373075" cy="373075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412480" y="4206240"/>
            <a:ext cx="2880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Idioma</a:t>
            </a:r>
            <a:endParaRPr lang="en-US" sz="1500" dirty="0"/>
          </a:p>
        </p:txBody>
      </p:sp>
      <p:sp>
        <p:nvSpPr>
          <p:cNvPr id="20" name="Text 15"/>
          <p:cNvSpPr/>
          <p:nvPr/>
        </p:nvSpPr>
        <p:spPr>
          <a:xfrm>
            <a:off x="8412480" y="4617720"/>
            <a:ext cx="2880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Interfaz bilingüe español / inglés en toda la aplicación</a:t>
            </a:r>
            <a:endParaRPr lang="en-US" sz="1150" dirty="0"/>
          </a:p>
        </p:txBody>
      </p:sp>
      <p:sp>
        <p:nvSpPr>
          <p:cNvPr id="21" name="Text 16"/>
          <p:cNvSpPr/>
          <p:nvPr/>
        </p:nvSpPr>
        <p:spPr>
          <a:xfrm>
            <a:off x="640080" y="562356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menús superiores de navegación organizan las funcionalidades en módulos, cada uno con guías explicativas integradas.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48640"/>
            <a:ext cx="914400" cy="91440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icon_search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786384"/>
            <a:ext cx="438912" cy="43891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783080" y="5943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Módulo 1 · Comprobaciones</a:t>
            </a:r>
            <a:endParaRPr lang="en-US" sz="2400" dirty="0"/>
          </a:p>
        </p:txBody>
      </p:sp>
      <p:sp>
        <p:nvSpPr>
          <p:cNvPr id="5" name="Text 2"/>
          <p:cNvSpPr/>
          <p:nvPr/>
        </p:nvSpPr>
        <p:spPr>
          <a:xfrm>
            <a:off x="1783080" y="1051560"/>
            <a:ext cx="868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Auditoría y análisis en profundidad de valores e índices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0"/>
          </a:xfrm>
          <a:prstGeom prst="line">
            <a:avLst/>
          </a:prstGeom>
          <a:noFill/>
          <a:ln w="12700">
            <a:solidFill>
              <a:srgbClr val="E0E6F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0080" y="1920240"/>
            <a:ext cx="5257800" cy="1207008"/>
          </a:xfrm>
          <a:prstGeom prst="roundRect">
            <a:avLst>
              <a:gd name="adj" fmla="val 6061"/>
            </a:avLst>
          </a:prstGeom>
          <a:solidFill>
            <a:srgbClr val="F7F9FC"/>
          </a:solidFill>
          <a:ln/>
        </p:spPr>
      </p:sp>
      <p:sp>
        <p:nvSpPr>
          <p:cNvPr id="8" name="Shape 5"/>
          <p:cNvSpPr/>
          <p:nvPr/>
        </p:nvSpPr>
        <p:spPr>
          <a:xfrm>
            <a:off x="896112" y="2157984"/>
            <a:ext cx="365760" cy="36576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9" name="Text 6"/>
          <p:cNvSpPr/>
          <p:nvPr/>
        </p:nvSpPr>
        <p:spPr>
          <a:xfrm>
            <a:off x="896112" y="215798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417320" y="2057400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Auditoría de valores individuales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1417320" y="2450592"/>
            <a:ext cx="4251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Históricos, volumen y variación de cada valor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263640" y="1920240"/>
            <a:ext cx="5257800" cy="1207008"/>
          </a:xfrm>
          <a:prstGeom prst="roundRect">
            <a:avLst>
              <a:gd name="adj" fmla="val 6061"/>
            </a:avLst>
          </a:prstGeom>
          <a:solidFill>
            <a:srgbClr val="F7F9FC"/>
          </a:solidFill>
          <a:ln/>
        </p:spPr>
      </p:sp>
      <p:sp>
        <p:nvSpPr>
          <p:cNvPr id="13" name="Shape 10"/>
          <p:cNvSpPr/>
          <p:nvPr/>
        </p:nvSpPr>
        <p:spPr>
          <a:xfrm>
            <a:off x="6519672" y="2157984"/>
            <a:ext cx="365760" cy="36576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4" name="Text 11"/>
          <p:cNvSpPr/>
          <p:nvPr/>
        </p:nvSpPr>
        <p:spPr>
          <a:xfrm>
            <a:off x="6519672" y="215798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7040880" y="2057400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Puntuaciones por sesiones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7040880" y="2450592"/>
            <a:ext cx="4251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 de puntuaciones asignadas en cada sesión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40080" y="3310128"/>
            <a:ext cx="5257800" cy="1207008"/>
          </a:xfrm>
          <a:prstGeom prst="roundRect">
            <a:avLst>
              <a:gd name="adj" fmla="val 6061"/>
            </a:avLst>
          </a:prstGeom>
          <a:solidFill>
            <a:srgbClr val="F7F9FC"/>
          </a:solidFill>
          <a:ln/>
        </p:spPr>
      </p:sp>
      <p:sp>
        <p:nvSpPr>
          <p:cNvPr id="18" name="Shape 15"/>
          <p:cNvSpPr/>
          <p:nvPr/>
        </p:nvSpPr>
        <p:spPr>
          <a:xfrm>
            <a:off x="896112" y="3547872"/>
            <a:ext cx="365760" cy="36576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9" name="Text 16"/>
          <p:cNvSpPr/>
          <p:nvPr/>
        </p:nvSpPr>
        <p:spPr>
          <a:xfrm>
            <a:off x="896112" y="354787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417320" y="3447288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Variación histórica de índices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1417320" y="3840480"/>
            <a:ext cx="4251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histórica de los índices de referencia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263640" y="3310128"/>
            <a:ext cx="5257800" cy="1207008"/>
          </a:xfrm>
          <a:prstGeom prst="roundRect">
            <a:avLst>
              <a:gd name="adj" fmla="val 6061"/>
            </a:avLst>
          </a:prstGeom>
          <a:solidFill>
            <a:srgbClr val="F7F9FC"/>
          </a:solidFill>
          <a:ln/>
        </p:spPr>
      </p:sp>
      <p:sp>
        <p:nvSpPr>
          <p:cNvPr id="23" name="Shape 20"/>
          <p:cNvSpPr/>
          <p:nvPr/>
        </p:nvSpPr>
        <p:spPr>
          <a:xfrm>
            <a:off x="6519672" y="3547872"/>
            <a:ext cx="365760" cy="36576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24" name="Text 21"/>
          <p:cNvSpPr/>
          <p:nvPr/>
        </p:nvSpPr>
        <p:spPr>
          <a:xfrm>
            <a:off x="6519672" y="354787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7040880" y="3447288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Componentes vía ETF</a:t>
            </a:r>
            <a:endParaRPr lang="en-US" sz="1350" dirty="0"/>
          </a:p>
        </p:txBody>
      </p:sp>
      <p:sp>
        <p:nvSpPr>
          <p:cNvPr id="26" name="Text 23"/>
          <p:cNvSpPr/>
          <p:nvPr/>
        </p:nvSpPr>
        <p:spPr>
          <a:xfrm>
            <a:off x="7040880" y="3840480"/>
            <a:ext cx="4251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de los principales componentes mediante ETF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640080" y="4700016"/>
            <a:ext cx="5257800" cy="1207008"/>
          </a:xfrm>
          <a:prstGeom prst="roundRect">
            <a:avLst>
              <a:gd name="adj" fmla="val 6061"/>
            </a:avLst>
          </a:prstGeom>
          <a:solidFill>
            <a:srgbClr val="F7F9FC"/>
          </a:solidFill>
          <a:ln/>
        </p:spPr>
      </p:sp>
      <p:sp>
        <p:nvSpPr>
          <p:cNvPr id="28" name="Shape 25"/>
          <p:cNvSpPr/>
          <p:nvPr/>
        </p:nvSpPr>
        <p:spPr>
          <a:xfrm>
            <a:off x="896112" y="4937760"/>
            <a:ext cx="365760" cy="36576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29" name="Text 26"/>
          <p:cNvSpPr/>
          <p:nvPr/>
        </p:nvSpPr>
        <p:spPr>
          <a:xfrm>
            <a:off x="896112" y="49377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1417320" y="4837176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fundamentales clave</a:t>
            </a:r>
            <a:endParaRPr lang="en-US" sz="1350" dirty="0"/>
          </a:p>
        </p:txBody>
      </p:sp>
      <p:sp>
        <p:nvSpPr>
          <p:cNvPr id="31" name="Text 28"/>
          <p:cNvSpPr/>
          <p:nvPr/>
        </p:nvSpPr>
        <p:spPr>
          <a:xfrm>
            <a:off x="1417320" y="5230368"/>
            <a:ext cx="4251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PER, EPS, valor contable y dividendo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6263640" y="4700016"/>
            <a:ext cx="5257800" cy="1207008"/>
          </a:xfrm>
          <a:prstGeom prst="roundRect">
            <a:avLst>
              <a:gd name="adj" fmla="val 6061"/>
            </a:avLst>
          </a:prstGeom>
          <a:solidFill>
            <a:srgbClr val="F7F9FC"/>
          </a:solidFill>
          <a:ln/>
        </p:spPr>
      </p:sp>
      <p:sp>
        <p:nvSpPr>
          <p:cNvPr id="33" name="Shape 30"/>
          <p:cNvSpPr/>
          <p:nvPr/>
        </p:nvSpPr>
        <p:spPr>
          <a:xfrm>
            <a:off x="6519672" y="4937760"/>
            <a:ext cx="365760" cy="36576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34" name="Text 31"/>
          <p:cNvSpPr/>
          <p:nvPr/>
        </p:nvSpPr>
        <p:spPr>
          <a:xfrm>
            <a:off x="6519672" y="49377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7040880" y="4837176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Consenso de analistas</a:t>
            </a:r>
            <a:endParaRPr lang="en-US" sz="1350" dirty="0"/>
          </a:p>
        </p:txBody>
      </p:sp>
      <p:sp>
        <p:nvSpPr>
          <p:cNvPr id="36" name="Text 33"/>
          <p:cNvSpPr/>
          <p:nvPr/>
        </p:nvSpPr>
        <p:spPr>
          <a:xfrm>
            <a:off x="7040880" y="5230368"/>
            <a:ext cx="4251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de las recomendaciones de consenso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48640"/>
            <a:ext cx="914400" cy="91440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icon_sliders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786384"/>
            <a:ext cx="438912" cy="43891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783080" y="502920"/>
            <a:ext cx="9692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Módulo 2 · Parámetros Técnicos para la Selección de Valores</a:t>
            </a:r>
            <a:endParaRPr lang="en-US" sz="2100" dirty="0"/>
          </a:p>
        </p:txBody>
      </p:sp>
      <p:sp>
        <p:nvSpPr>
          <p:cNvPr id="5" name="Text 2"/>
          <p:cNvSpPr/>
          <p:nvPr/>
        </p:nvSpPr>
        <p:spPr>
          <a:xfrm>
            <a:off x="1783080" y="1097280"/>
            <a:ext cx="868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la optimización del modelo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640080" y="1645920"/>
            <a:ext cx="10881360" cy="0"/>
          </a:xfrm>
          <a:prstGeom prst="line">
            <a:avLst/>
          </a:prstGeom>
          <a:noFill/>
          <a:ln w="12700">
            <a:solidFill>
              <a:srgbClr val="E0E6F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0080" y="1965960"/>
            <a:ext cx="3429000" cy="2148840"/>
          </a:xfrm>
          <a:prstGeom prst="roundRect">
            <a:avLst>
              <a:gd name="adj" fmla="val 4255"/>
            </a:avLst>
          </a:prstGeom>
          <a:solidFill>
            <a:srgbClr val="F7F9FC"/>
          </a:solidFill>
          <a:ln/>
        </p:spPr>
      </p:sp>
      <p:sp>
        <p:nvSpPr>
          <p:cNvPr id="8" name="Shape 5"/>
          <p:cNvSpPr/>
          <p:nvPr/>
        </p:nvSpPr>
        <p:spPr>
          <a:xfrm>
            <a:off x="914400" y="2240280"/>
            <a:ext cx="594360" cy="59436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9" name="Image 1" descr="icon_repeat_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8934" y="2394814"/>
            <a:ext cx="285293" cy="28529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68680" y="2953512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Cadenas de selección</a:t>
            </a:r>
            <a:endParaRPr lang="en-US" sz="1250" dirty="0"/>
          </a:p>
        </p:txBody>
      </p:sp>
      <p:sp>
        <p:nvSpPr>
          <p:cNvPr id="11" name="Text 7"/>
          <p:cNvSpPr/>
          <p:nvPr/>
        </p:nvSpPr>
        <p:spPr>
          <a:xfrm>
            <a:off x="868680" y="3429000"/>
            <a:ext cx="2971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Ejecución automática del proceso completo de selección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4389120" y="1965960"/>
            <a:ext cx="3429000" cy="2148840"/>
          </a:xfrm>
          <a:prstGeom prst="roundRect">
            <a:avLst>
              <a:gd name="adj" fmla="val 4255"/>
            </a:avLst>
          </a:prstGeom>
          <a:solidFill>
            <a:srgbClr val="F7F9FC"/>
          </a:solidFill>
          <a:ln/>
        </p:spPr>
      </p:sp>
      <p:sp>
        <p:nvSpPr>
          <p:cNvPr id="13" name="Shape 9"/>
          <p:cNvSpPr/>
          <p:nvPr/>
        </p:nvSpPr>
        <p:spPr>
          <a:xfrm>
            <a:off x="4663440" y="2240280"/>
            <a:ext cx="594360" cy="59436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4" name="Image 2" descr="icon_trendingDown_nav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7974" y="2394814"/>
            <a:ext cx="285293" cy="285293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617720" y="2953512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Factores de penalización</a:t>
            </a:r>
            <a:endParaRPr lang="en-US" sz="1250" dirty="0"/>
          </a:p>
        </p:txBody>
      </p:sp>
      <p:sp>
        <p:nvSpPr>
          <p:cNvPr id="16" name="Text 11"/>
          <p:cNvSpPr/>
          <p:nvPr/>
        </p:nvSpPr>
        <p:spPr>
          <a:xfrm>
            <a:off x="4617720" y="3429000"/>
            <a:ext cx="2971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Ajuste de la penalización aplicada en el modelo</a:t>
            </a:r>
            <a:endParaRPr lang="en-US" sz="1050" dirty="0"/>
          </a:p>
        </p:txBody>
      </p:sp>
      <p:sp>
        <p:nvSpPr>
          <p:cNvPr id="17" name="Shape 12"/>
          <p:cNvSpPr/>
          <p:nvPr/>
        </p:nvSpPr>
        <p:spPr>
          <a:xfrm>
            <a:off x="8138160" y="1965960"/>
            <a:ext cx="3429000" cy="2148840"/>
          </a:xfrm>
          <a:prstGeom prst="roundRect">
            <a:avLst>
              <a:gd name="adj" fmla="val 4255"/>
            </a:avLst>
          </a:prstGeom>
          <a:solidFill>
            <a:srgbClr val="F7F9FC"/>
          </a:solidFill>
          <a:ln/>
        </p:spPr>
      </p:sp>
      <p:sp>
        <p:nvSpPr>
          <p:cNvPr id="18" name="Shape 13"/>
          <p:cNvSpPr/>
          <p:nvPr/>
        </p:nvSpPr>
        <p:spPr>
          <a:xfrm>
            <a:off x="8412480" y="2240280"/>
            <a:ext cx="594360" cy="59436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9" name="Image 3" descr="icon_layers_nav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67014" y="2394814"/>
            <a:ext cx="285293" cy="285293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8366760" y="2953512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Número de componentes</a:t>
            </a:r>
            <a:endParaRPr lang="en-US" sz="1250" dirty="0"/>
          </a:p>
        </p:txBody>
      </p:sp>
      <p:sp>
        <p:nvSpPr>
          <p:cNvPr id="21" name="Text 15"/>
          <p:cNvSpPr/>
          <p:nvPr/>
        </p:nvSpPr>
        <p:spPr>
          <a:xfrm>
            <a:off x="8366760" y="3429000"/>
            <a:ext cx="2971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Cantidad de valores que integran la cartera</a:t>
            </a:r>
            <a:endParaRPr lang="en-US" sz="1050" dirty="0"/>
          </a:p>
        </p:txBody>
      </p:sp>
      <p:sp>
        <p:nvSpPr>
          <p:cNvPr id="22" name="Shape 16"/>
          <p:cNvSpPr/>
          <p:nvPr/>
        </p:nvSpPr>
        <p:spPr>
          <a:xfrm>
            <a:off x="640080" y="4343400"/>
            <a:ext cx="3429000" cy="2148840"/>
          </a:xfrm>
          <a:prstGeom prst="roundRect">
            <a:avLst>
              <a:gd name="adj" fmla="val 4255"/>
            </a:avLst>
          </a:prstGeom>
          <a:solidFill>
            <a:srgbClr val="F7F9FC"/>
          </a:solidFill>
          <a:ln/>
        </p:spPr>
      </p:sp>
      <p:sp>
        <p:nvSpPr>
          <p:cNvPr id="23" name="Shape 17"/>
          <p:cNvSpPr/>
          <p:nvPr/>
        </p:nvSpPr>
        <p:spPr>
          <a:xfrm>
            <a:off x="914400" y="4617720"/>
            <a:ext cx="594360" cy="59436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24" name="Image 4" descr="icon_target_nav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8934" y="4772254"/>
            <a:ext cx="285293" cy="285293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868680" y="5330952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Topes de diversificación</a:t>
            </a:r>
            <a:endParaRPr lang="en-US" sz="1250" dirty="0"/>
          </a:p>
        </p:txBody>
      </p:sp>
      <p:sp>
        <p:nvSpPr>
          <p:cNvPr id="26" name="Text 19"/>
          <p:cNvSpPr/>
          <p:nvPr/>
        </p:nvSpPr>
        <p:spPr>
          <a:xfrm>
            <a:off x="868680" y="5806440"/>
            <a:ext cx="2971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Límites máximos de peso por componente</a:t>
            </a:r>
            <a:endParaRPr lang="en-US" sz="1050" dirty="0"/>
          </a:p>
        </p:txBody>
      </p:sp>
      <p:sp>
        <p:nvSpPr>
          <p:cNvPr id="27" name="Shape 20"/>
          <p:cNvSpPr/>
          <p:nvPr/>
        </p:nvSpPr>
        <p:spPr>
          <a:xfrm>
            <a:off x="4389120" y="4343400"/>
            <a:ext cx="3429000" cy="2148840"/>
          </a:xfrm>
          <a:prstGeom prst="roundRect">
            <a:avLst>
              <a:gd name="adj" fmla="val 4255"/>
            </a:avLst>
          </a:prstGeom>
          <a:solidFill>
            <a:srgbClr val="F7F9FC"/>
          </a:solidFill>
          <a:ln/>
        </p:spPr>
      </p:sp>
      <p:sp>
        <p:nvSpPr>
          <p:cNvPr id="28" name="Shape 21"/>
          <p:cNvSpPr/>
          <p:nvPr/>
        </p:nvSpPr>
        <p:spPr>
          <a:xfrm>
            <a:off x="4663440" y="4617720"/>
            <a:ext cx="594360" cy="59436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29" name="Image 5" descr="icon_clock_navy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17974" y="4772254"/>
            <a:ext cx="285293" cy="285293"/>
          </a:xfrm>
          <a:prstGeom prst="rect">
            <a:avLst/>
          </a:prstGeom>
        </p:spPr>
      </p:pic>
      <p:sp>
        <p:nvSpPr>
          <p:cNvPr id="30" name="Text 22"/>
          <p:cNvSpPr/>
          <p:nvPr/>
        </p:nvSpPr>
        <p:spPr>
          <a:xfrm>
            <a:off x="4617720" y="5330952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Frecuencias de rebalanceo</a:t>
            </a:r>
            <a:endParaRPr lang="en-US" sz="1250" dirty="0"/>
          </a:p>
        </p:txBody>
      </p:sp>
      <p:sp>
        <p:nvSpPr>
          <p:cNvPr id="31" name="Text 23"/>
          <p:cNvSpPr/>
          <p:nvPr/>
        </p:nvSpPr>
        <p:spPr>
          <a:xfrm>
            <a:off x="4617720" y="5806440"/>
            <a:ext cx="2971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Periodicidad con la que se revisa la cartera</a:t>
            </a:r>
            <a:endParaRPr lang="en-US" sz="1050" dirty="0"/>
          </a:p>
        </p:txBody>
      </p:sp>
      <p:sp>
        <p:nvSpPr>
          <p:cNvPr id="32" name="Shape 24"/>
          <p:cNvSpPr/>
          <p:nvPr/>
        </p:nvSpPr>
        <p:spPr>
          <a:xfrm>
            <a:off x="8138160" y="4343400"/>
            <a:ext cx="3429000" cy="2148840"/>
          </a:xfrm>
          <a:prstGeom prst="roundRect">
            <a:avLst>
              <a:gd name="adj" fmla="val 4255"/>
            </a:avLst>
          </a:prstGeom>
          <a:solidFill>
            <a:srgbClr val="F7F9FC"/>
          </a:solidFill>
          <a:ln/>
        </p:spPr>
      </p:sp>
      <p:sp>
        <p:nvSpPr>
          <p:cNvPr id="33" name="Shape 25"/>
          <p:cNvSpPr/>
          <p:nvPr/>
        </p:nvSpPr>
        <p:spPr>
          <a:xfrm>
            <a:off x="8412480" y="4617720"/>
            <a:ext cx="594360" cy="59436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34" name="Image 6" descr="icon_activity_navy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67014" y="4772254"/>
            <a:ext cx="285293" cy="285293"/>
          </a:xfrm>
          <a:prstGeom prst="rect">
            <a:avLst/>
          </a:prstGeom>
        </p:spPr>
      </p:pic>
      <p:sp>
        <p:nvSpPr>
          <p:cNvPr id="35" name="Text 26"/>
          <p:cNvSpPr/>
          <p:nvPr/>
        </p:nvSpPr>
        <p:spPr>
          <a:xfrm>
            <a:off x="8366760" y="5330952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Ventanas de backtest</a:t>
            </a:r>
            <a:endParaRPr lang="en-US" sz="1250" dirty="0"/>
          </a:p>
        </p:txBody>
      </p:sp>
      <p:sp>
        <p:nvSpPr>
          <p:cNvPr id="36" name="Text 27"/>
          <p:cNvSpPr/>
          <p:nvPr/>
        </p:nvSpPr>
        <p:spPr>
          <a:xfrm>
            <a:off x="8366760" y="5806440"/>
            <a:ext cx="2971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Horizonte histórico usado para probar el modelo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48640"/>
            <a:ext cx="914400" cy="91440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icon_target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786384"/>
            <a:ext cx="438912" cy="43891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783080" y="502920"/>
            <a:ext cx="9692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Módulo 3 · Selección de Cartera por Parámetros Técnicos</a:t>
            </a:r>
            <a:endParaRPr lang="en-US" sz="2100" dirty="0"/>
          </a:p>
        </p:txBody>
      </p:sp>
      <p:sp>
        <p:nvSpPr>
          <p:cNvPr id="5" name="Text 2"/>
          <p:cNvSpPr/>
          <p:nvPr/>
        </p:nvSpPr>
        <p:spPr>
          <a:xfrm>
            <a:off x="1783080" y="1097280"/>
            <a:ext cx="868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Construcción de la cartera mediante indicadores cuantitativos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640080" y="1645920"/>
            <a:ext cx="10881360" cy="0"/>
          </a:xfrm>
          <a:prstGeom prst="line">
            <a:avLst/>
          </a:prstGeom>
          <a:noFill/>
          <a:ln w="12700">
            <a:solidFill>
              <a:srgbClr val="E0E6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" y="182880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ENFOQUES SIMÉTRICOS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40080" y="2286000"/>
            <a:ext cx="5257800" cy="3566160"/>
          </a:xfrm>
          <a:prstGeom prst="roundRect">
            <a:avLst>
              <a:gd name="adj" fmla="val 2564"/>
            </a:avLst>
          </a:prstGeom>
          <a:solidFill>
            <a:srgbClr val="1E2761"/>
          </a:solidFill>
          <a:ln/>
        </p:spPr>
      </p:sp>
      <p:sp>
        <p:nvSpPr>
          <p:cNvPr id="9" name="Shape 6"/>
          <p:cNvSpPr/>
          <p:nvPr/>
        </p:nvSpPr>
        <p:spPr>
          <a:xfrm>
            <a:off x="960120" y="2606040"/>
            <a:ext cx="685800" cy="685800"/>
          </a:xfrm>
          <a:prstGeom prst="ellipse">
            <a:avLst/>
          </a:prstGeom>
          <a:solidFill>
            <a:srgbClr val="324A9B"/>
          </a:solidFill>
          <a:ln/>
        </p:spPr>
      </p:sp>
      <p:pic>
        <p:nvPicPr>
          <p:cNvPr id="10" name="Image 1" descr="icon_trending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428" y="2784348"/>
            <a:ext cx="329184" cy="32918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828800" y="269748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Estrategia Directa</a:t>
            </a:r>
            <a:endParaRPr lang="en-US" sz="1800" dirty="0"/>
          </a:p>
        </p:txBody>
      </p:sp>
      <p:sp>
        <p:nvSpPr>
          <p:cNvPr id="12" name="Text 8"/>
          <p:cNvSpPr/>
          <p:nvPr/>
        </p:nvSpPr>
        <p:spPr>
          <a:xfrm>
            <a:off x="960120" y="3520440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Selección basada en maximizar: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960120" y="4023360"/>
            <a:ext cx="128016" cy="128016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4" name="Text 10"/>
          <p:cNvSpPr/>
          <p:nvPr/>
        </p:nvSpPr>
        <p:spPr>
          <a:xfrm>
            <a:off x="1234440" y="3931920"/>
            <a:ext cx="4343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960120" y="4526280"/>
            <a:ext cx="128016" cy="128016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6" name="Text 12"/>
          <p:cNvSpPr/>
          <p:nvPr/>
        </p:nvSpPr>
        <p:spPr>
          <a:xfrm>
            <a:off x="1234440" y="4434840"/>
            <a:ext cx="4343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Volumen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960120" y="5029200"/>
            <a:ext cx="128016" cy="128016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8" name="Text 14"/>
          <p:cNvSpPr/>
          <p:nvPr/>
        </p:nvSpPr>
        <p:spPr>
          <a:xfrm>
            <a:off x="1234440" y="4937760"/>
            <a:ext cx="4343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Flujo de dinero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6263640" y="2286000"/>
            <a:ext cx="5257800" cy="3566160"/>
          </a:xfrm>
          <a:prstGeom prst="roundRect">
            <a:avLst>
              <a:gd name="adj" fmla="val 2564"/>
            </a:avLst>
          </a:prstGeom>
          <a:solidFill>
            <a:srgbClr val="F7F9FC"/>
          </a:solidFill>
          <a:ln w="12700">
            <a:solidFill>
              <a:srgbClr val="E0E6F0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583680" y="2606040"/>
            <a:ext cx="685800" cy="68580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21" name="Image 2" descr="icon_trendingDown_nav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1988" y="2784348"/>
            <a:ext cx="329184" cy="329184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7452360" y="269748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Estrategia Contraria (Antítesis)</a:t>
            </a:r>
            <a:endParaRPr lang="en-US" sz="1800" dirty="0"/>
          </a:p>
        </p:txBody>
      </p:sp>
      <p:sp>
        <p:nvSpPr>
          <p:cNvPr id="23" name="Text 18"/>
          <p:cNvSpPr/>
          <p:nvPr/>
        </p:nvSpPr>
        <p:spPr>
          <a:xfrm>
            <a:off x="6583680" y="3520440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Selección basada en valores bajos de:</a:t>
            </a:r>
            <a:endParaRPr lang="en-US" sz="1250" dirty="0"/>
          </a:p>
        </p:txBody>
      </p:sp>
      <p:sp>
        <p:nvSpPr>
          <p:cNvPr id="24" name="Shape 19"/>
          <p:cNvSpPr/>
          <p:nvPr/>
        </p:nvSpPr>
        <p:spPr>
          <a:xfrm>
            <a:off x="6583680" y="4023360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5" name="Text 20"/>
          <p:cNvSpPr/>
          <p:nvPr/>
        </p:nvSpPr>
        <p:spPr>
          <a:xfrm>
            <a:off x="6858000" y="3931920"/>
            <a:ext cx="4343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</a:t>
            </a:r>
            <a:endParaRPr lang="en-US" sz="1400" dirty="0"/>
          </a:p>
        </p:txBody>
      </p:sp>
      <p:sp>
        <p:nvSpPr>
          <p:cNvPr id="26" name="Shape 21"/>
          <p:cNvSpPr/>
          <p:nvPr/>
        </p:nvSpPr>
        <p:spPr>
          <a:xfrm>
            <a:off x="6583680" y="4526280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7" name="Text 22"/>
          <p:cNvSpPr/>
          <p:nvPr/>
        </p:nvSpPr>
        <p:spPr>
          <a:xfrm>
            <a:off x="6858000" y="4434840"/>
            <a:ext cx="4343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Volumen</a:t>
            </a:r>
            <a:endParaRPr lang="en-US" sz="1400" dirty="0"/>
          </a:p>
        </p:txBody>
      </p:sp>
      <p:sp>
        <p:nvSpPr>
          <p:cNvPr id="28" name="Shape 23"/>
          <p:cNvSpPr/>
          <p:nvPr/>
        </p:nvSpPr>
        <p:spPr>
          <a:xfrm>
            <a:off x="6583680" y="5029200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9" name="Text 24"/>
          <p:cNvSpPr/>
          <p:nvPr/>
        </p:nvSpPr>
        <p:spPr>
          <a:xfrm>
            <a:off x="6858000" y="4937760"/>
            <a:ext cx="4343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Flujo de dinero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48640"/>
            <a:ext cx="914400" cy="91440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icon_shuffl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786384"/>
            <a:ext cx="438912" cy="43891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783080" y="50292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Módulo 4 · Selección de Cartera por Criterios Alternativos</a:t>
            </a:r>
            <a:endParaRPr lang="en-US" sz="2100" dirty="0"/>
          </a:p>
        </p:txBody>
      </p:sp>
      <p:sp>
        <p:nvSpPr>
          <p:cNvPr id="5" name="Text 2"/>
          <p:cNvSpPr/>
          <p:nvPr/>
        </p:nvSpPr>
        <p:spPr>
          <a:xfrm>
            <a:off x="1783080" y="1097280"/>
            <a:ext cx="868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Metodologías complementarias de construcción de cartera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640080" y="1645920"/>
            <a:ext cx="10881360" cy="0"/>
          </a:xfrm>
          <a:prstGeom prst="line">
            <a:avLst/>
          </a:prstGeom>
          <a:noFill/>
          <a:ln w="12700">
            <a:solidFill>
              <a:srgbClr val="E0E6F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0080" y="1920240"/>
            <a:ext cx="3429000" cy="1965960"/>
          </a:xfrm>
          <a:prstGeom prst="roundRect">
            <a:avLst>
              <a:gd name="adj" fmla="val 4651"/>
            </a:avLst>
          </a:prstGeom>
          <a:solidFill>
            <a:srgbClr val="F7F9FC"/>
          </a:solidFill>
          <a:ln/>
        </p:spPr>
      </p:sp>
      <p:sp>
        <p:nvSpPr>
          <p:cNvPr id="8" name="Shape 5"/>
          <p:cNvSpPr/>
          <p:nvPr/>
        </p:nvSpPr>
        <p:spPr>
          <a:xfrm>
            <a:off x="914400" y="2176272"/>
            <a:ext cx="594360" cy="59436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9" name="Image 1" descr="icon_shuffle_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8934" y="2330806"/>
            <a:ext cx="285293" cy="28529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68680" y="2852928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Carteras aleatorias</a:t>
            </a:r>
            <a:endParaRPr lang="en-US" sz="1250" dirty="0"/>
          </a:p>
        </p:txBody>
      </p:sp>
      <p:sp>
        <p:nvSpPr>
          <p:cNvPr id="11" name="Text 7"/>
          <p:cNvSpPr/>
          <p:nvPr/>
        </p:nvSpPr>
        <p:spPr>
          <a:xfrm>
            <a:off x="868680" y="329184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 como control o benchmark de referencia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4389120" y="1920240"/>
            <a:ext cx="3429000" cy="1965960"/>
          </a:xfrm>
          <a:prstGeom prst="roundRect">
            <a:avLst>
              <a:gd name="adj" fmla="val 4651"/>
            </a:avLst>
          </a:prstGeom>
          <a:solidFill>
            <a:srgbClr val="F7F9FC"/>
          </a:solidFill>
          <a:ln/>
        </p:spPr>
      </p:sp>
      <p:sp>
        <p:nvSpPr>
          <p:cNvPr id="13" name="Shape 9"/>
          <p:cNvSpPr/>
          <p:nvPr/>
        </p:nvSpPr>
        <p:spPr>
          <a:xfrm>
            <a:off x="4663440" y="2176272"/>
            <a:ext cx="594360" cy="59436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4" name="Image 2" descr="icon_filetext_nav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7974" y="2330806"/>
            <a:ext cx="285293" cy="285293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617720" y="2852928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Selección por fundamentales</a:t>
            </a:r>
            <a:endParaRPr lang="en-US" sz="1250" dirty="0"/>
          </a:p>
        </p:txBody>
      </p:sp>
      <p:sp>
        <p:nvSpPr>
          <p:cNvPr id="16" name="Text 11"/>
          <p:cNvSpPr/>
          <p:nvPr/>
        </p:nvSpPr>
        <p:spPr>
          <a:xfrm>
            <a:off x="4617720" y="329184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PER, Yield de EPS, valor contable y dividendos</a:t>
            </a:r>
            <a:endParaRPr lang="en-US" sz="1050" dirty="0"/>
          </a:p>
        </p:txBody>
      </p:sp>
      <p:sp>
        <p:nvSpPr>
          <p:cNvPr id="17" name="Shape 12"/>
          <p:cNvSpPr/>
          <p:nvPr/>
        </p:nvSpPr>
        <p:spPr>
          <a:xfrm>
            <a:off x="8138160" y="1920240"/>
            <a:ext cx="3429000" cy="1965960"/>
          </a:xfrm>
          <a:prstGeom prst="roundRect">
            <a:avLst>
              <a:gd name="adj" fmla="val 4651"/>
            </a:avLst>
          </a:prstGeom>
          <a:solidFill>
            <a:srgbClr val="F7F9FC"/>
          </a:solidFill>
          <a:ln/>
        </p:spPr>
      </p:sp>
      <p:sp>
        <p:nvSpPr>
          <p:cNvPr id="18" name="Shape 13"/>
          <p:cNvSpPr/>
          <p:nvPr/>
        </p:nvSpPr>
        <p:spPr>
          <a:xfrm>
            <a:off x="8412480" y="2176272"/>
            <a:ext cx="594360" cy="59436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9" name="Image 3" descr="icon_users_nav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67014" y="2330806"/>
            <a:ext cx="285293" cy="285293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8366760" y="2852928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Recomendaciones de analistas</a:t>
            </a:r>
            <a:endParaRPr lang="en-US" sz="1250" dirty="0"/>
          </a:p>
        </p:txBody>
      </p:sp>
      <p:sp>
        <p:nvSpPr>
          <p:cNvPr id="21" name="Text 15"/>
          <p:cNvSpPr/>
          <p:nvPr/>
        </p:nvSpPr>
        <p:spPr>
          <a:xfrm>
            <a:off x="8366760" y="329184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Selección basada en el consenso de analistas</a:t>
            </a:r>
            <a:endParaRPr lang="en-US" sz="1050" dirty="0"/>
          </a:p>
        </p:txBody>
      </p:sp>
      <p:sp>
        <p:nvSpPr>
          <p:cNvPr id="22" name="Shape 16"/>
          <p:cNvSpPr/>
          <p:nvPr/>
        </p:nvSpPr>
        <p:spPr>
          <a:xfrm>
            <a:off x="640080" y="4114800"/>
            <a:ext cx="3429000" cy="1965960"/>
          </a:xfrm>
          <a:prstGeom prst="roundRect">
            <a:avLst>
              <a:gd name="adj" fmla="val 4651"/>
            </a:avLst>
          </a:prstGeom>
          <a:solidFill>
            <a:srgbClr val="F7F9FC"/>
          </a:solidFill>
          <a:ln/>
        </p:spPr>
      </p:sp>
      <p:sp>
        <p:nvSpPr>
          <p:cNvPr id="23" name="Shape 17"/>
          <p:cNvSpPr/>
          <p:nvPr/>
        </p:nvSpPr>
        <p:spPr>
          <a:xfrm>
            <a:off x="914400" y="4370832"/>
            <a:ext cx="594360" cy="59436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24" name="Image 4" descr="icon_barchart_nav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8934" y="4525366"/>
            <a:ext cx="285293" cy="285293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868680" y="5047488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Modelos multifactoriales</a:t>
            </a:r>
            <a:endParaRPr lang="en-US" sz="1250" dirty="0"/>
          </a:p>
        </p:txBody>
      </p:sp>
      <p:sp>
        <p:nvSpPr>
          <p:cNvPr id="26" name="Text 19"/>
          <p:cNvSpPr/>
          <p:nvPr/>
        </p:nvSpPr>
        <p:spPr>
          <a:xfrm>
            <a:off x="868680" y="548640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Modelos avanzados mediante regresión Ridge</a:t>
            </a:r>
            <a:endParaRPr lang="en-US" sz="1050" dirty="0"/>
          </a:p>
        </p:txBody>
      </p:sp>
      <p:sp>
        <p:nvSpPr>
          <p:cNvPr id="27" name="Shape 20"/>
          <p:cNvSpPr/>
          <p:nvPr/>
        </p:nvSpPr>
        <p:spPr>
          <a:xfrm>
            <a:off x="4389120" y="4114800"/>
            <a:ext cx="3429000" cy="1965960"/>
          </a:xfrm>
          <a:prstGeom prst="roundRect">
            <a:avLst>
              <a:gd name="adj" fmla="val 4651"/>
            </a:avLst>
          </a:prstGeom>
          <a:solidFill>
            <a:srgbClr val="F7F9FC"/>
          </a:solidFill>
          <a:ln/>
        </p:spPr>
      </p:sp>
      <p:sp>
        <p:nvSpPr>
          <p:cNvPr id="28" name="Shape 21"/>
          <p:cNvSpPr/>
          <p:nvPr/>
        </p:nvSpPr>
        <p:spPr>
          <a:xfrm>
            <a:off x="4663440" y="4370832"/>
            <a:ext cx="594360" cy="59436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29" name="Image 5" descr="icon_layers_navy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17974" y="4525366"/>
            <a:ext cx="285293" cy="285293"/>
          </a:xfrm>
          <a:prstGeom prst="rect">
            <a:avLst/>
          </a:prstGeom>
        </p:spPr>
      </p:pic>
      <p:sp>
        <p:nvSpPr>
          <p:cNvPr id="30" name="Text 22"/>
          <p:cNvSpPr/>
          <p:nvPr/>
        </p:nvSpPr>
        <p:spPr>
          <a:xfrm>
            <a:off x="4617720" y="5047488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Réplicas de índices</a:t>
            </a:r>
            <a:endParaRPr lang="en-US" sz="1250" dirty="0"/>
          </a:p>
        </p:txBody>
      </p:sp>
      <p:sp>
        <p:nvSpPr>
          <p:cNvPr id="31" name="Text 23"/>
          <p:cNvSpPr/>
          <p:nvPr/>
        </p:nvSpPr>
        <p:spPr>
          <a:xfrm>
            <a:off x="4617720" y="548640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Construcción de carteras que replican un índice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48640"/>
            <a:ext cx="914400" cy="91440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icon_activity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786384"/>
            <a:ext cx="438912" cy="43891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783080" y="59436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Módulo 5 · Módulo de Análisis</a:t>
            </a:r>
            <a:endParaRPr lang="en-US" sz="2400" dirty="0"/>
          </a:p>
        </p:txBody>
      </p:sp>
      <p:sp>
        <p:nvSpPr>
          <p:cNvPr id="5" name="Text 2"/>
          <p:cNvSpPr/>
          <p:nvPr/>
        </p:nvSpPr>
        <p:spPr>
          <a:xfrm>
            <a:off x="1783080" y="1051560"/>
            <a:ext cx="868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 estadístico de carteras e índices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0"/>
          </a:xfrm>
          <a:prstGeom prst="line">
            <a:avLst/>
          </a:prstGeom>
          <a:noFill/>
          <a:ln w="12700">
            <a:solidFill>
              <a:srgbClr val="E0E6F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0080" y="2057400"/>
            <a:ext cx="10881360" cy="1143000"/>
          </a:xfrm>
          <a:prstGeom prst="roundRect">
            <a:avLst>
              <a:gd name="adj" fmla="val 6400"/>
            </a:avLst>
          </a:prstGeom>
          <a:solidFill>
            <a:srgbClr val="F7F9FC"/>
          </a:solidFill>
          <a:ln/>
        </p:spPr>
      </p:sp>
      <p:sp>
        <p:nvSpPr>
          <p:cNvPr id="8" name="Shape 5"/>
          <p:cNvSpPr/>
          <p:nvPr/>
        </p:nvSpPr>
        <p:spPr>
          <a:xfrm>
            <a:off x="914400" y="2286000"/>
            <a:ext cx="685800" cy="68580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9" name="Image 1" descr="icon_users_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708" y="2464308"/>
            <a:ext cx="329184" cy="32918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828800" y="2221992"/>
            <a:ext cx="9418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Correlación con recomendaciones de analistas</a:t>
            </a:r>
            <a:endParaRPr lang="en-US" sz="1450" dirty="0"/>
          </a:p>
        </p:txBody>
      </p:sp>
      <p:sp>
        <p:nvSpPr>
          <p:cNvPr id="11" name="Text 7"/>
          <p:cNvSpPr/>
          <p:nvPr/>
        </p:nvSpPr>
        <p:spPr>
          <a:xfrm>
            <a:off x="1828800" y="2624328"/>
            <a:ext cx="9418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de la correlación de carteras e índices con el consenso de analistas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640080" y="3429000"/>
            <a:ext cx="10881360" cy="1143000"/>
          </a:xfrm>
          <a:prstGeom prst="roundRect">
            <a:avLst>
              <a:gd name="adj" fmla="val 6400"/>
            </a:avLst>
          </a:prstGeom>
          <a:solidFill>
            <a:srgbClr val="F7F9FC"/>
          </a:solidFill>
          <a:ln/>
        </p:spPr>
      </p:sp>
      <p:sp>
        <p:nvSpPr>
          <p:cNvPr id="13" name="Shape 9"/>
          <p:cNvSpPr/>
          <p:nvPr/>
        </p:nvSpPr>
        <p:spPr>
          <a:xfrm>
            <a:off x="914400" y="3657600"/>
            <a:ext cx="685800" cy="68580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4" name="Image 2" descr="icon_trending_nav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" y="3835908"/>
            <a:ext cx="329184" cy="32918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828800" y="3593592"/>
            <a:ext cx="9418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Rendimiento histórico</a:t>
            </a:r>
            <a:endParaRPr lang="en-US" sz="1450" dirty="0"/>
          </a:p>
        </p:txBody>
      </p:sp>
      <p:sp>
        <p:nvSpPr>
          <p:cNvPr id="16" name="Text 11"/>
          <p:cNvSpPr/>
          <p:nvPr/>
        </p:nvSpPr>
        <p:spPr>
          <a:xfrm>
            <a:off x="1828800" y="3995928"/>
            <a:ext cx="9418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Estudio del comportamiento histórico de las distintas estrategias</a:t>
            </a:r>
            <a:endParaRPr lang="en-US" sz="1150" dirty="0"/>
          </a:p>
        </p:txBody>
      </p:sp>
      <p:sp>
        <p:nvSpPr>
          <p:cNvPr id="17" name="Shape 12"/>
          <p:cNvSpPr/>
          <p:nvPr/>
        </p:nvSpPr>
        <p:spPr>
          <a:xfrm>
            <a:off x="640080" y="4800600"/>
            <a:ext cx="10881360" cy="1143000"/>
          </a:xfrm>
          <a:prstGeom prst="roundRect">
            <a:avLst>
              <a:gd name="adj" fmla="val 6400"/>
            </a:avLst>
          </a:prstGeom>
          <a:solidFill>
            <a:srgbClr val="F7F9FC"/>
          </a:solidFill>
          <a:ln/>
        </p:spPr>
      </p:sp>
      <p:sp>
        <p:nvSpPr>
          <p:cNvPr id="18" name="Shape 13"/>
          <p:cNvSpPr/>
          <p:nvPr/>
        </p:nvSpPr>
        <p:spPr>
          <a:xfrm>
            <a:off x="914400" y="5029200"/>
            <a:ext cx="685800" cy="68580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9" name="Image 3" descr="icon_checkcircle_nav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2708" y="5207508"/>
            <a:ext cx="329184" cy="329184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828800" y="4965192"/>
            <a:ext cx="9418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Fidelidad de réplica de ETF</a:t>
            </a:r>
            <a:endParaRPr lang="en-US" sz="1450" dirty="0"/>
          </a:p>
        </p:txBody>
      </p:sp>
      <p:sp>
        <p:nvSpPr>
          <p:cNvPr id="21" name="Text 15"/>
          <p:cNvSpPr/>
          <p:nvPr/>
        </p:nvSpPr>
        <p:spPr>
          <a:xfrm>
            <a:off x="1828800" y="5367528"/>
            <a:ext cx="9418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de la fidelidad de réplica de los ETF bajo normativas UCITS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1371600"/>
            <a:ext cx="4572000" cy="4572000"/>
          </a:xfrm>
          <a:prstGeom prst="ellipse">
            <a:avLst/>
          </a:prstGeom>
          <a:solidFill>
            <a:srgbClr val="263876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502920"/>
            <a:ext cx="914400" cy="914400"/>
          </a:xfrm>
          <a:prstGeom prst="ellipse">
            <a:avLst/>
          </a:prstGeom>
          <a:solidFill>
            <a:srgbClr val="C9A227"/>
          </a:solidFill>
          <a:ln/>
        </p:spPr>
      </p:sp>
      <p:pic>
        <p:nvPicPr>
          <p:cNvPr id="4" name="Image 0" descr="icon_alert_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740664"/>
            <a:ext cx="438912" cy="43891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783080" y="457200"/>
            <a:ext cx="9692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Módulo 6 · Anomalías en el Flujo de Dinero Bajo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1783080" y="1051560"/>
            <a:ext cx="868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de investigación empírica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640080" y="1691640"/>
            <a:ext cx="10881360" cy="1371600"/>
          </a:xfrm>
          <a:prstGeom prst="roundRect">
            <a:avLst>
              <a:gd name="adj" fmla="val 6667"/>
            </a:avLst>
          </a:prstGeom>
          <a:solidFill>
            <a:srgbClr val="263876"/>
          </a:solidFill>
          <a:ln/>
        </p:spPr>
      </p:sp>
      <p:sp>
        <p:nvSpPr>
          <p:cNvPr id="8" name="Text 5"/>
          <p:cNvSpPr/>
          <p:nvPr/>
        </p:nvSpPr>
        <p:spPr>
          <a:xfrm>
            <a:off x="914400" y="182880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Comportamiento de "abanico invertido"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914400" y="2267712"/>
            <a:ext cx="10332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Estrechamiento temporal con sesgo alcista y menor riesgo a la baja, detectado al operar con flujos de dinero reducidos en horizontes largos.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40080" y="333756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INCLUIDAS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40080" y="3749040"/>
            <a:ext cx="2578608" cy="2377440"/>
          </a:xfrm>
          <a:prstGeom prst="roundRect">
            <a:avLst>
              <a:gd name="adj" fmla="val 3846"/>
            </a:avLst>
          </a:prstGeom>
          <a:solidFill>
            <a:srgbClr val="263876"/>
          </a:solidFill>
          <a:ln/>
        </p:spPr>
      </p:sp>
      <p:sp>
        <p:nvSpPr>
          <p:cNvPr id="12" name="Shape 9"/>
          <p:cNvSpPr/>
          <p:nvPr/>
        </p:nvSpPr>
        <p:spPr>
          <a:xfrm>
            <a:off x="1563624" y="4069080"/>
            <a:ext cx="731520" cy="73152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3" name="Image 1" descr="icon_target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3819" y="4259275"/>
            <a:ext cx="351130" cy="35113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804672" y="4983480"/>
            <a:ext cx="2249424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Concentración de selección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3447288" y="3749040"/>
            <a:ext cx="2578608" cy="2377440"/>
          </a:xfrm>
          <a:prstGeom prst="roundRect">
            <a:avLst>
              <a:gd name="adj" fmla="val 3846"/>
            </a:avLst>
          </a:prstGeom>
          <a:solidFill>
            <a:srgbClr val="263876"/>
          </a:solidFill>
          <a:ln/>
        </p:spPr>
      </p:sp>
      <p:sp>
        <p:nvSpPr>
          <p:cNvPr id="16" name="Shape 12"/>
          <p:cNvSpPr/>
          <p:nvPr/>
        </p:nvSpPr>
        <p:spPr>
          <a:xfrm>
            <a:off x="4370832" y="4069080"/>
            <a:ext cx="731520" cy="73152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7" name="Image 2" descr="icon_trendingDown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1027" y="4259275"/>
            <a:ext cx="351130" cy="35113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3611880" y="4983480"/>
            <a:ext cx="2249424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Caídas previas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6254496" y="3749040"/>
            <a:ext cx="2578608" cy="2377440"/>
          </a:xfrm>
          <a:prstGeom prst="roundRect">
            <a:avLst>
              <a:gd name="adj" fmla="val 3846"/>
            </a:avLst>
          </a:prstGeom>
          <a:solidFill>
            <a:srgbClr val="263876"/>
          </a:solidFill>
          <a:ln/>
        </p:spPr>
      </p:sp>
      <p:sp>
        <p:nvSpPr>
          <p:cNvPr id="20" name="Shape 15"/>
          <p:cNvSpPr/>
          <p:nvPr/>
        </p:nvSpPr>
        <p:spPr>
          <a:xfrm>
            <a:off x="7178040" y="4069080"/>
            <a:ext cx="731520" cy="73152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1" name="Image 3" descr="icon_barchart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68235" y="4259275"/>
            <a:ext cx="351130" cy="35113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6419088" y="4983480"/>
            <a:ext cx="2249424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Perfiles de volumen</a:t>
            </a:r>
            <a:endParaRPr lang="en-US" sz="1250" dirty="0"/>
          </a:p>
        </p:txBody>
      </p:sp>
      <p:sp>
        <p:nvSpPr>
          <p:cNvPr id="23" name="Shape 17"/>
          <p:cNvSpPr/>
          <p:nvPr/>
        </p:nvSpPr>
        <p:spPr>
          <a:xfrm>
            <a:off x="9061704" y="3749040"/>
            <a:ext cx="2578608" cy="2377440"/>
          </a:xfrm>
          <a:prstGeom prst="roundRect">
            <a:avLst>
              <a:gd name="adj" fmla="val 3846"/>
            </a:avLst>
          </a:prstGeom>
          <a:solidFill>
            <a:srgbClr val="263876"/>
          </a:solidFill>
          <a:ln/>
        </p:spPr>
      </p:sp>
      <p:sp>
        <p:nvSpPr>
          <p:cNvPr id="24" name="Shape 18"/>
          <p:cNvSpPr/>
          <p:nvPr/>
        </p:nvSpPr>
        <p:spPr>
          <a:xfrm>
            <a:off x="9985248" y="4069080"/>
            <a:ext cx="731520" cy="73152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5" name="Image 4" descr="icon_checkcircle_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75443" y="4259275"/>
            <a:ext cx="351130" cy="351130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9226296" y="4983480"/>
            <a:ext cx="2249424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Mediciones prácticas de rentabilidad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48640"/>
            <a:ext cx="914400" cy="91440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icon_cpu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786384"/>
            <a:ext cx="438912" cy="43891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783080" y="502920"/>
            <a:ext cx="9692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Módulo 7 · Comparación con Red Neuronal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1783080" y="1097280"/>
            <a:ext cx="9418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Experimento controlado para calibrar dos formas de aprender a puntuar valores</a:t>
            </a:r>
            <a:endParaRPr lang="en-US" sz="1250" dirty="0"/>
          </a:p>
        </p:txBody>
      </p:sp>
      <p:sp>
        <p:nvSpPr>
          <p:cNvPr id="6" name="Shape 3"/>
          <p:cNvSpPr/>
          <p:nvPr/>
        </p:nvSpPr>
        <p:spPr>
          <a:xfrm>
            <a:off x="640080" y="1645920"/>
            <a:ext cx="10881360" cy="0"/>
          </a:xfrm>
          <a:prstGeom prst="line">
            <a:avLst/>
          </a:prstGeom>
          <a:noFill/>
          <a:ln w="12700">
            <a:solidFill>
              <a:srgbClr val="E0E6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" y="182880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MODELOS, MISMA VALIDACIÓN WALK-FORWARD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40080" y="2194560"/>
            <a:ext cx="5257800" cy="1417320"/>
          </a:xfrm>
          <a:prstGeom prst="roundRect">
            <a:avLst>
              <a:gd name="adj" fmla="val 6452"/>
            </a:avLst>
          </a:prstGeom>
          <a:solidFill>
            <a:srgbClr val="F7F9FC"/>
          </a:solidFill>
          <a:ln w="12700">
            <a:solidFill>
              <a:srgbClr val="E0E6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4400" y="2514600"/>
            <a:ext cx="777240" cy="77724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0" name="Image 1" descr="icon_barchart_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6482" y="2716682"/>
            <a:ext cx="373075" cy="37307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783080" y="2514600"/>
            <a:ext cx="4069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Regresión Ridge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1783080" y="2944368"/>
            <a:ext cx="4069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estadístico entrenado para puntuar valores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263640" y="2194560"/>
            <a:ext cx="5257800" cy="1417320"/>
          </a:xfrm>
          <a:prstGeom prst="roundRect">
            <a:avLst>
              <a:gd name="adj" fmla="val 6452"/>
            </a:avLst>
          </a:prstGeom>
          <a:solidFill>
            <a:srgbClr val="F7F9FC"/>
          </a:solidFill>
          <a:ln w="12700">
            <a:solidFill>
              <a:srgbClr val="E0E6F0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537960" y="2514600"/>
            <a:ext cx="777240" cy="77724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5" name="Image 2" descr="icon_cpu_nav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0042" y="2716682"/>
            <a:ext cx="373075" cy="373075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406640" y="2514600"/>
            <a:ext cx="4069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Neuronal Pequeña</a:t>
            </a:r>
            <a:endParaRPr lang="en-US" sz="1500" dirty="0"/>
          </a:p>
        </p:txBody>
      </p:sp>
      <p:sp>
        <p:nvSpPr>
          <p:cNvPr id="17" name="Text 12"/>
          <p:cNvSpPr/>
          <p:nvPr/>
        </p:nvSpPr>
        <p:spPr>
          <a:xfrm>
            <a:off x="7406640" y="2944368"/>
            <a:ext cx="4069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red neuronal entrenado para la misma tarea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640080" y="3886200"/>
            <a:ext cx="10881360" cy="1417320"/>
          </a:xfrm>
          <a:prstGeom prst="roundRect">
            <a:avLst>
              <a:gd name="adj" fmla="val 6452"/>
            </a:avLst>
          </a:prstGeom>
          <a:solidFill>
            <a:srgbClr val="1E2761"/>
          </a:solidFill>
          <a:ln/>
        </p:spPr>
      </p:sp>
      <p:sp>
        <p:nvSpPr>
          <p:cNvPr id="19" name="Text 14"/>
          <p:cNvSpPr/>
          <p:nvPr/>
        </p:nvSpPr>
        <p:spPr>
          <a:xfrm>
            <a:off x="914400" y="4041648"/>
            <a:ext cx="10332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AGREGADO SOBRE VARIOS ÍNDICES</a:t>
            </a:r>
            <a:endParaRPr lang="en-US" sz="1150" dirty="0"/>
          </a:p>
        </p:txBody>
      </p:sp>
      <p:sp>
        <p:nvSpPr>
          <p:cNvPr id="20" name="Text 15"/>
          <p:cNvSpPr/>
          <p:nvPr/>
        </p:nvSpPr>
        <p:spPr>
          <a:xfrm>
            <a:off x="914400" y="4407408"/>
            <a:ext cx="10332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Ningún modelo mostró una ventaja fiable. Confirma, con un método de validación más exigente, el mismo resultado ya obtenido con el modelo multifactor.</a:t>
            </a:r>
            <a:endParaRPr lang="en-US" sz="1350" dirty="0"/>
          </a:p>
        </p:txBody>
      </p:sp>
      <p:sp>
        <p:nvSpPr>
          <p:cNvPr id="21" name="Text 16"/>
          <p:cNvSpPr/>
          <p:nvPr/>
        </p:nvSpPr>
        <p:spPr>
          <a:xfrm>
            <a:off x="640080" y="553212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Ninguno de los enfoques probados en este proyecto ha demostrado una ventaja predictiva fiable sobre no aplicar ningún criterio.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4114800"/>
            <a:ext cx="5029200" cy="5029200"/>
          </a:xfrm>
          <a:prstGeom prst="ellipse">
            <a:avLst/>
          </a:prstGeom>
          <a:solidFill>
            <a:srgbClr val="263876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502920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Siete módulos, una plataforma integral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22960" y="1234440"/>
            <a:ext cx="2377440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691640"/>
            <a:ext cx="2542032" cy="1965960"/>
          </a:xfrm>
          <a:prstGeom prst="roundRect">
            <a:avLst>
              <a:gd name="adj" fmla="val 4651"/>
            </a:avLst>
          </a:prstGeom>
          <a:solidFill>
            <a:srgbClr val="263876"/>
          </a:solidFill>
          <a:ln/>
        </p:spPr>
      </p:sp>
      <p:sp>
        <p:nvSpPr>
          <p:cNvPr id="6" name="Shape 4"/>
          <p:cNvSpPr/>
          <p:nvPr/>
        </p:nvSpPr>
        <p:spPr>
          <a:xfrm>
            <a:off x="1042416" y="1911096"/>
            <a:ext cx="548640" cy="548640"/>
          </a:xfrm>
          <a:prstGeom prst="ellipse">
            <a:avLst/>
          </a:prstGeom>
          <a:solidFill>
            <a:srgbClr val="324A9B"/>
          </a:solidFill>
          <a:ln/>
        </p:spPr>
      </p:sp>
      <p:pic>
        <p:nvPicPr>
          <p:cNvPr id="7" name="Image 0" descr="icon_search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5062" y="2053742"/>
            <a:ext cx="263347" cy="26334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05840" y="2587752"/>
            <a:ext cx="217627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Comprobaciones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3621024" y="1691640"/>
            <a:ext cx="2542032" cy="1965960"/>
          </a:xfrm>
          <a:prstGeom prst="roundRect">
            <a:avLst>
              <a:gd name="adj" fmla="val 4651"/>
            </a:avLst>
          </a:prstGeom>
          <a:solidFill>
            <a:srgbClr val="263876"/>
          </a:solidFill>
          <a:ln/>
        </p:spPr>
      </p:sp>
      <p:sp>
        <p:nvSpPr>
          <p:cNvPr id="10" name="Shape 7"/>
          <p:cNvSpPr/>
          <p:nvPr/>
        </p:nvSpPr>
        <p:spPr>
          <a:xfrm>
            <a:off x="3840480" y="1911096"/>
            <a:ext cx="548640" cy="548640"/>
          </a:xfrm>
          <a:prstGeom prst="ellipse">
            <a:avLst/>
          </a:prstGeom>
          <a:solidFill>
            <a:srgbClr val="324A9B"/>
          </a:solidFill>
          <a:ln/>
        </p:spPr>
      </p:sp>
      <p:pic>
        <p:nvPicPr>
          <p:cNvPr id="11" name="Image 1" descr="icon_sliders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3126" y="2053742"/>
            <a:ext cx="263347" cy="263347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803904" y="2587752"/>
            <a:ext cx="217627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Parámetros Técnicos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6419088" y="1691640"/>
            <a:ext cx="2542032" cy="1965960"/>
          </a:xfrm>
          <a:prstGeom prst="roundRect">
            <a:avLst>
              <a:gd name="adj" fmla="val 4651"/>
            </a:avLst>
          </a:prstGeom>
          <a:solidFill>
            <a:srgbClr val="263876"/>
          </a:solidFill>
          <a:ln/>
        </p:spPr>
      </p:sp>
      <p:sp>
        <p:nvSpPr>
          <p:cNvPr id="14" name="Shape 10"/>
          <p:cNvSpPr/>
          <p:nvPr/>
        </p:nvSpPr>
        <p:spPr>
          <a:xfrm>
            <a:off x="6638544" y="1911096"/>
            <a:ext cx="548640" cy="548640"/>
          </a:xfrm>
          <a:prstGeom prst="ellipse">
            <a:avLst/>
          </a:prstGeom>
          <a:solidFill>
            <a:srgbClr val="324A9B"/>
          </a:solidFill>
          <a:ln/>
        </p:spPr>
      </p:sp>
      <p:pic>
        <p:nvPicPr>
          <p:cNvPr id="15" name="Image 2" descr="icon_target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1190" y="2053742"/>
            <a:ext cx="263347" cy="263347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601968" y="2587752"/>
            <a:ext cx="217627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Selección por Parámetros Técnicos</a:t>
            </a:r>
            <a:endParaRPr lang="en-US" sz="1150" dirty="0"/>
          </a:p>
        </p:txBody>
      </p:sp>
      <p:sp>
        <p:nvSpPr>
          <p:cNvPr id="17" name="Shape 12"/>
          <p:cNvSpPr/>
          <p:nvPr/>
        </p:nvSpPr>
        <p:spPr>
          <a:xfrm>
            <a:off x="9217152" y="1691640"/>
            <a:ext cx="2542032" cy="1965960"/>
          </a:xfrm>
          <a:prstGeom prst="roundRect">
            <a:avLst>
              <a:gd name="adj" fmla="val 4651"/>
            </a:avLst>
          </a:prstGeom>
          <a:solidFill>
            <a:srgbClr val="263876"/>
          </a:solidFill>
          <a:ln/>
        </p:spPr>
      </p:sp>
      <p:sp>
        <p:nvSpPr>
          <p:cNvPr id="18" name="Shape 13"/>
          <p:cNvSpPr/>
          <p:nvPr/>
        </p:nvSpPr>
        <p:spPr>
          <a:xfrm>
            <a:off x="9436608" y="1911096"/>
            <a:ext cx="548640" cy="548640"/>
          </a:xfrm>
          <a:prstGeom prst="ellipse">
            <a:avLst/>
          </a:prstGeom>
          <a:solidFill>
            <a:srgbClr val="324A9B"/>
          </a:solidFill>
          <a:ln/>
        </p:spPr>
      </p:sp>
      <p:pic>
        <p:nvPicPr>
          <p:cNvPr id="19" name="Image 3" descr="icon_shuffle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79254" y="2053742"/>
            <a:ext cx="263347" cy="263347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9400032" y="2587752"/>
            <a:ext cx="217627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Criterios Alternativos</a:t>
            </a:r>
            <a:endParaRPr lang="en-US" sz="1150" dirty="0"/>
          </a:p>
        </p:txBody>
      </p:sp>
      <p:sp>
        <p:nvSpPr>
          <p:cNvPr id="21" name="Shape 15"/>
          <p:cNvSpPr/>
          <p:nvPr/>
        </p:nvSpPr>
        <p:spPr>
          <a:xfrm>
            <a:off x="822960" y="3913632"/>
            <a:ext cx="2542032" cy="1965960"/>
          </a:xfrm>
          <a:prstGeom prst="roundRect">
            <a:avLst>
              <a:gd name="adj" fmla="val 4651"/>
            </a:avLst>
          </a:prstGeom>
          <a:solidFill>
            <a:srgbClr val="263876"/>
          </a:solidFill>
          <a:ln/>
        </p:spPr>
      </p:sp>
      <p:sp>
        <p:nvSpPr>
          <p:cNvPr id="22" name="Shape 16"/>
          <p:cNvSpPr/>
          <p:nvPr/>
        </p:nvSpPr>
        <p:spPr>
          <a:xfrm>
            <a:off x="1042416" y="4133088"/>
            <a:ext cx="548640" cy="548640"/>
          </a:xfrm>
          <a:prstGeom prst="ellipse">
            <a:avLst/>
          </a:prstGeom>
          <a:solidFill>
            <a:srgbClr val="324A9B"/>
          </a:solidFill>
          <a:ln/>
        </p:spPr>
      </p:sp>
      <p:pic>
        <p:nvPicPr>
          <p:cNvPr id="23" name="Image 4" descr="icon_activity_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85062" y="4275734"/>
            <a:ext cx="263347" cy="263347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1005840" y="4809744"/>
            <a:ext cx="217627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de Análisis</a:t>
            </a:r>
            <a:endParaRPr lang="en-US" sz="1150" dirty="0"/>
          </a:p>
        </p:txBody>
      </p:sp>
      <p:sp>
        <p:nvSpPr>
          <p:cNvPr id="25" name="Shape 18"/>
          <p:cNvSpPr/>
          <p:nvPr/>
        </p:nvSpPr>
        <p:spPr>
          <a:xfrm>
            <a:off x="3621024" y="3913632"/>
            <a:ext cx="2542032" cy="1965960"/>
          </a:xfrm>
          <a:prstGeom prst="roundRect">
            <a:avLst>
              <a:gd name="adj" fmla="val 4651"/>
            </a:avLst>
          </a:prstGeom>
          <a:solidFill>
            <a:srgbClr val="263876"/>
          </a:solidFill>
          <a:ln/>
        </p:spPr>
      </p:sp>
      <p:sp>
        <p:nvSpPr>
          <p:cNvPr id="26" name="Shape 19"/>
          <p:cNvSpPr/>
          <p:nvPr/>
        </p:nvSpPr>
        <p:spPr>
          <a:xfrm>
            <a:off x="3840480" y="4133088"/>
            <a:ext cx="548640" cy="548640"/>
          </a:xfrm>
          <a:prstGeom prst="ellipse">
            <a:avLst/>
          </a:prstGeom>
          <a:solidFill>
            <a:srgbClr val="324A9B"/>
          </a:solidFill>
          <a:ln/>
        </p:spPr>
      </p:sp>
      <p:pic>
        <p:nvPicPr>
          <p:cNvPr id="27" name="Image 5" descr="icon_alert_whit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83126" y="4275734"/>
            <a:ext cx="263347" cy="263347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3803904" y="4809744"/>
            <a:ext cx="217627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Anomalías de Flujo de Dinero Bajo</a:t>
            </a:r>
            <a:endParaRPr lang="en-US" sz="1150" dirty="0"/>
          </a:p>
        </p:txBody>
      </p:sp>
      <p:sp>
        <p:nvSpPr>
          <p:cNvPr id="29" name="Shape 21"/>
          <p:cNvSpPr/>
          <p:nvPr/>
        </p:nvSpPr>
        <p:spPr>
          <a:xfrm>
            <a:off x="6419088" y="3913632"/>
            <a:ext cx="2542032" cy="1965960"/>
          </a:xfrm>
          <a:prstGeom prst="roundRect">
            <a:avLst>
              <a:gd name="adj" fmla="val 4651"/>
            </a:avLst>
          </a:prstGeom>
          <a:solidFill>
            <a:srgbClr val="263876"/>
          </a:solidFill>
          <a:ln/>
        </p:spPr>
      </p:sp>
      <p:sp>
        <p:nvSpPr>
          <p:cNvPr id="30" name="Shape 22"/>
          <p:cNvSpPr/>
          <p:nvPr/>
        </p:nvSpPr>
        <p:spPr>
          <a:xfrm>
            <a:off x="6638544" y="4133088"/>
            <a:ext cx="548640" cy="548640"/>
          </a:xfrm>
          <a:prstGeom prst="ellipse">
            <a:avLst/>
          </a:prstGeom>
          <a:solidFill>
            <a:srgbClr val="324A9B"/>
          </a:solidFill>
          <a:ln/>
        </p:spPr>
      </p:sp>
      <p:pic>
        <p:nvPicPr>
          <p:cNvPr id="31" name="Image 6" descr="icon_cpu_whit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81190" y="4275734"/>
            <a:ext cx="263347" cy="263347"/>
          </a:xfrm>
          <a:prstGeom prst="rect">
            <a:avLst/>
          </a:prstGeom>
        </p:spPr>
      </p:pic>
      <p:sp>
        <p:nvSpPr>
          <p:cNvPr id="32" name="Text 23"/>
          <p:cNvSpPr/>
          <p:nvPr/>
        </p:nvSpPr>
        <p:spPr>
          <a:xfrm>
            <a:off x="6601968" y="4809744"/>
            <a:ext cx="217627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Comparación con Red Neuronal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2026-08-08T20:44:04Z</dcterms:created>
  <dcterms:modified xsi:type="dcterms:W3CDTF">2026-08-08T20:44:04Z</dcterms:modified>
</cp:coreProperties>
</file>