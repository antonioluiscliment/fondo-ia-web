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486400" cy="54864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657600" cy="36576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324A9B"/>
          </a:solidFill>
          <a:ln/>
        </p:spPr>
      </p:sp>
      <p:pic>
        <p:nvPicPr>
          <p:cNvPr id="5" name="Image 0" descr="icon_bar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DE GESTIÓN DE CARTERAS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7889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Carteras de Inversión Guiada por IA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práctico — Curso del Dr. Phillip Compeau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617720"/>
            <a:ext cx="23774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8463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selección y diseño de carteras de inversión asistida por inteligencia artificial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y estructura de la interfaz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desarrollada como proyecto práctico para el curso del Dr. Phillip Compeau: una herramienta de selección y diseño de carteras de inversión asistida por IA.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INTERFAZ CUENTA CON UNA CABECERA INVARIABLE, MENÚS DE NAVEGACIÓN Y GUÍAS EXPLICATIVAS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7F9FC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2918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icon_lis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202" y="349392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2062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índice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6177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Elección del índice bursátil sobre el que se construye la cartera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89120" y="297180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7F9FC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32918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icon_clo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242" y="349392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42062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promediadas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63440" y="46177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número de sesiones usadas en los cálculos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297180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7F9FC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58200" y="32918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icon_glob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282" y="349392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42062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12480" y="46177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bilingüe español / inglés en toda la aplicación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menús superiores de navegación organizan las funcionalidades en módulos, cada uno con guías explicativas integradas.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7863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1 · Comprobaciones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78308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y análisis en profundidad de valores e índices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2700">
            <a:solidFill>
              <a:srgbClr val="E0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920240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</p:spPr>
      </p:sp>
      <p:sp>
        <p:nvSpPr>
          <p:cNvPr id="8" name="Shape 5"/>
          <p:cNvSpPr/>
          <p:nvPr/>
        </p:nvSpPr>
        <p:spPr>
          <a:xfrm>
            <a:off x="896112" y="215798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2157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17320" y="2057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valores individuales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417320" y="245059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Históricos, volumen y variación de cada valor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1920240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</p:spPr>
      </p:sp>
      <p:sp>
        <p:nvSpPr>
          <p:cNvPr id="13" name="Shape 10"/>
          <p:cNvSpPr/>
          <p:nvPr/>
        </p:nvSpPr>
        <p:spPr>
          <a:xfrm>
            <a:off x="6519672" y="215798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/>
          <p:nvPr/>
        </p:nvSpPr>
        <p:spPr>
          <a:xfrm>
            <a:off x="6519672" y="2157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040880" y="2057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Puntuaciones por sesiones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040880" y="245059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puntuaciones asignadas en cada sesión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3310128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</p:spPr>
      </p:sp>
      <p:sp>
        <p:nvSpPr>
          <p:cNvPr id="18" name="Shape 15"/>
          <p:cNvSpPr/>
          <p:nvPr/>
        </p:nvSpPr>
        <p:spPr>
          <a:xfrm>
            <a:off x="896112" y="3547872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6"/>
          <p:cNvSpPr/>
          <p:nvPr/>
        </p:nvSpPr>
        <p:spPr>
          <a:xfrm>
            <a:off x="896112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417320" y="344728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histórica de índices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417320" y="384048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histórica de los índices de referencia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63640" y="3310128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</p:spPr>
      </p:sp>
      <p:sp>
        <p:nvSpPr>
          <p:cNvPr id="23" name="Shape 20"/>
          <p:cNvSpPr/>
          <p:nvPr/>
        </p:nvSpPr>
        <p:spPr>
          <a:xfrm>
            <a:off x="6519672" y="3547872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1"/>
          <p:cNvSpPr/>
          <p:nvPr/>
        </p:nvSpPr>
        <p:spPr>
          <a:xfrm>
            <a:off x="6519672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040880" y="344728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vía ETF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040880" y="384048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los principales componentes mediante ETF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" y="4700016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</p:spPr>
      </p:sp>
      <p:sp>
        <p:nvSpPr>
          <p:cNvPr id="28" name="Shape 25"/>
          <p:cNvSpPr/>
          <p:nvPr/>
        </p:nvSpPr>
        <p:spPr>
          <a:xfrm>
            <a:off x="896112" y="49377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6"/>
          <p:cNvSpPr/>
          <p:nvPr/>
        </p:nvSpPr>
        <p:spPr>
          <a:xfrm>
            <a:off x="896112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417320" y="483717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fundamentales clave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417320" y="523036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PER, EPS, valor contable y dividendo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263640" y="4700016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</p:spPr>
      </p:sp>
      <p:sp>
        <p:nvSpPr>
          <p:cNvPr id="33" name="Shape 30"/>
          <p:cNvSpPr/>
          <p:nvPr/>
        </p:nvSpPr>
        <p:spPr>
          <a:xfrm>
            <a:off x="6519672" y="49377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4" name="Text 31"/>
          <p:cNvSpPr/>
          <p:nvPr/>
        </p:nvSpPr>
        <p:spPr>
          <a:xfrm>
            <a:off x="6519672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040880" y="483717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Consenso de analistas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7040880" y="523036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las recomendaciones de consenso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_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7863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2 · Parámetros Técnicos para la Selección de Valores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783080" y="10972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la optimización del modelo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10881360" cy="0"/>
          </a:xfrm>
          <a:prstGeom prst="line">
            <a:avLst/>
          </a:prstGeom>
          <a:noFill/>
          <a:ln w="12700">
            <a:solidFill>
              <a:srgbClr val="E0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9659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9FC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224028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icon_repea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34" y="239481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95351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 de selección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68680" y="34290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automática del proceso completo de selección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89120" y="19659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9FC"/>
          </a:solidFill>
          <a:ln/>
        </p:spPr>
      </p:sp>
      <p:sp>
        <p:nvSpPr>
          <p:cNvPr id="13" name="Shape 9"/>
          <p:cNvSpPr/>
          <p:nvPr/>
        </p:nvSpPr>
        <p:spPr>
          <a:xfrm>
            <a:off x="4663440" y="224028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on_trendingDow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974" y="239481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17720" y="295351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de penalización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617720" y="34290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la penalización aplicada en el modelo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138160" y="19659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9FC"/>
          </a:solidFill>
          <a:ln/>
        </p:spPr>
      </p:sp>
      <p:sp>
        <p:nvSpPr>
          <p:cNvPr id="18" name="Shape 13"/>
          <p:cNvSpPr/>
          <p:nvPr/>
        </p:nvSpPr>
        <p:spPr>
          <a:xfrm>
            <a:off x="8412480" y="224028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on_lay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014" y="2394814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66760" y="295351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componentes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8366760" y="34290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valores que integran la cartera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40080" y="43434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9FC"/>
          </a:solidFill>
          <a:ln/>
        </p:spPr>
      </p:sp>
      <p:sp>
        <p:nvSpPr>
          <p:cNvPr id="23" name="Shape 17"/>
          <p:cNvSpPr/>
          <p:nvPr/>
        </p:nvSpPr>
        <p:spPr>
          <a:xfrm>
            <a:off x="914400" y="46177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4" descr="icon_targe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934" y="4772254"/>
            <a:ext cx="285293" cy="28529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68680" y="533095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Topes de diversificación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868680" y="580644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máximos de peso por componente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389120" y="43434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9FC"/>
          </a:solidFill>
          <a:ln/>
        </p:spPr>
      </p:sp>
      <p:sp>
        <p:nvSpPr>
          <p:cNvPr id="28" name="Shape 21"/>
          <p:cNvSpPr/>
          <p:nvPr/>
        </p:nvSpPr>
        <p:spPr>
          <a:xfrm>
            <a:off x="4663440" y="46177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9" name="Image 5" descr="icon_clo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7974" y="4772254"/>
            <a:ext cx="285293" cy="28529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617720" y="533095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Frecuencias de rebalanceo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4617720" y="580644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Periodicidad con la que se revisa la cartera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8138160" y="43434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9FC"/>
          </a:solidFill>
          <a:ln/>
        </p:spPr>
      </p:sp>
      <p:sp>
        <p:nvSpPr>
          <p:cNvPr id="33" name="Shape 25"/>
          <p:cNvSpPr/>
          <p:nvPr/>
        </p:nvSpPr>
        <p:spPr>
          <a:xfrm>
            <a:off x="8412480" y="46177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4" name="Image 6" descr="icon_activity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7014" y="4772254"/>
            <a:ext cx="285293" cy="28529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366760" y="533095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Ventanas de backtest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8366760" y="580644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histórico usado para probar el modelo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_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7863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3 · Selección de Cartera por Parámetros Técnicos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783080" y="10972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la cartera mediante indicadores cuantitativos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10881360" cy="0"/>
          </a:xfrm>
          <a:prstGeom prst="line">
            <a:avLst/>
          </a:prstGeom>
          <a:noFill/>
          <a:ln w="12700">
            <a:solidFill>
              <a:srgbClr val="E0E6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8288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ENFOQUES SIMÉTRICOS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960120" y="2606040"/>
            <a:ext cx="685800" cy="685800"/>
          </a:xfrm>
          <a:prstGeom prst="ellipse">
            <a:avLst/>
          </a:prstGeom>
          <a:solidFill>
            <a:srgbClr val="324A9B"/>
          </a:solidFill>
          <a:ln/>
        </p:spPr>
      </p:sp>
      <p:pic>
        <p:nvPicPr>
          <p:cNvPr id="10" name="Image 1" descr="icon_trend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" y="27843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Directa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60120" y="35204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basada en maximizar: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960120" y="402336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0"/>
          <p:cNvSpPr/>
          <p:nvPr/>
        </p:nvSpPr>
        <p:spPr>
          <a:xfrm>
            <a:off x="1234440" y="39319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960120" y="452628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2"/>
          <p:cNvSpPr/>
          <p:nvPr/>
        </p:nvSpPr>
        <p:spPr>
          <a:xfrm>
            <a:off x="1234440" y="44348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960120" y="502920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4"/>
          <p:cNvSpPr/>
          <p:nvPr/>
        </p:nvSpPr>
        <p:spPr>
          <a:xfrm>
            <a:off x="1234440" y="49377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dinero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63640" y="228600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7F9FC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583680" y="26060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2" descr="icon_trendingDow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88" y="278434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5236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Contraria (Antítesis)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583680" y="35204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basada en valores bajos de: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583680" y="402336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0"/>
          <p:cNvSpPr/>
          <p:nvPr/>
        </p:nvSpPr>
        <p:spPr>
          <a:xfrm>
            <a:off x="6858000" y="39319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583680" y="45262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2"/>
          <p:cNvSpPr/>
          <p:nvPr/>
        </p:nvSpPr>
        <p:spPr>
          <a:xfrm>
            <a:off x="6858000" y="44348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583680" y="502920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4"/>
          <p:cNvSpPr/>
          <p:nvPr/>
        </p:nvSpPr>
        <p:spPr>
          <a:xfrm>
            <a:off x="6858000" y="49377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dinero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_shuff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7863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4 · Selección de Cartera por Criterios Alternativos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783080" y="10972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complementarias de construcción de cartera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10881360" cy="0"/>
          </a:xfrm>
          <a:prstGeom prst="line">
            <a:avLst/>
          </a:prstGeom>
          <a:noFill/>
          <a:ln w="12700">
            <a:solidFill>
              <a:srgbClr val="E0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920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2176272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icon_shuff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34" y="2330806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529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Carteras aleatorias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68680" y="32918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como control o benchmark de referencia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89120" y="1920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13" name="Shape 9"/>
          <p:cNvSpPr/>
          <p:nvPr/>
        </p:nvSpPr>
        <p:spPr>
          <a:xfrm>
            <a:off x="4663440" y="2176272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on_filetex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974" y="2330806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17720" y="28529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por fundamentales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617720" y="32918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PER, Yield de EPS, valor contable y dividendos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138160" y="1920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18" name="Shape 13"/>
          <p:cNvSpPr/>
          <p:nvPr/>
        </p:nvSpPr>
        <p:spPr>
          <a:xfrm>
            <a:off x="8412480" y="2176272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on_us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014" y="2330806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66760" y="28529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de analistas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8366760" y="32918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basada en el consenso de analistas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40080" y="4114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23" name="Shape 17"/>
          <p:cNvSpPr/>
          <p:nvPr/>
        </p:nvSpPr>
        <p:spPr>
          <a:xfrm>
            <a:off x="914400" y="4370832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4" descr="icon_barchar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934" y="4525366"/>
            <a:ext cx="285293" cy="28529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68680" y="50474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multifactoriales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868680" y="5486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avanzados mediante regresión Ridge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389120" y="4114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28" name="Shape 21"/>
          <p:cNvSpPr/>
          <p:nvPr/>
        </p:nvSpPr>
        <p:spPr>
          <a:xfrm>
            <a:off x="4663440" y="4370832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9" name="Image 5" descr="icon_layers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7974" y="4525366"/>
            <a:ext cx="285293" cy="28529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617720" y="50474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Réplicas de índices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4617720" y="5486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carteras que replican un índice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_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7863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943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5 · Módulo de Análisis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78308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estadístico de carteras e índices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2700">
            <a:solidFill>
              <a:srgbClr val="E0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0574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22860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icon_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246430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2221992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con recomendaciones de analistas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828800" y="262432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la correlación de carteras e índices con el consenso de analistas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4290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/>
        </p:spPr>
      </p:sp>
      <p:sp>
        <p:nvSpPr>
          <p:cNvPr id="13" name="Shape 9"/>
          <p:cNvSpPr/>
          <p:nvPr/>
        </p:nvSpPr>
        <p:spPr>
          <a:xfrm>
            <a:off x="914400" y="36576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on_trendin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383590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28800" y="3593592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histórico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828800" y="399592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del comportamiento histórico de las distintas estrategias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48006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/>
        </p:spPr>
      </p:sp>
      <p:sp>
        <p:nvSpPr>
          <p:cNvPr id="18" name="Shape 13"/>
          <p:cNvSpPr/>
          <p:nvPr/>
        </p:nvSpPr>
        <p:spPr>
          <a:xfrm>
            <a:off x="914400" y="50292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on_checkcirc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" y="520750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28800" y="4965192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Fidelidad de réplica de ETF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828800" y="536752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la fidelidad de réplica de los ETF bajo normativas UCITS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icon_ale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74066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45720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6 · Anomalías en el Flujo de Dinero Bajo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8308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investigación empírica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263876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8288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Comportamiento de "abanico invertido"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26771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Estrechamiento temporal con sesgo alcista y menor riesgo a la baja, detectado al operar con flujos de dinero reducidos en horizontes largos.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3375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INCLUIDAS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2578608" cy="2377440"/>
          </a:xfrm>
          <a:prstGeom prst="roundRect">
            <a:avLst>
              <a:gd name="adj" fmla="val 3846"/>
            </a:avLst>
          </a:prstGeom>
          <a:solidFill>
            <a:srgbClr val="263876"/>
          </a:solidFill>
          <a:ln/>
        </p:spPr>
      </p:sp>
      <p:sp>
        <p:nvSpPr>
          <p:cNvPr id="12" name="Shape 9"/>
          <p:cNvSpPr/>
          <p:nvPr/>
        </p:nvSpPr>
        <p:spPr>
          <a:xfrm>
            <a:off x="1563624" y="4069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on_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819" y="425927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672" y="498348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de selección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447288" y="3749040"/>
            <a:ext cx="2578608" cy="2377440"/>
          </a:xfrm>
          <a:prstGeom prst="roundRect">
            <a:avLst>
              <a:gd name="adj" fmla="val 3846"/>
            </a:avLst>
          </a:prstGeom>
          <a:solidFill>
            <a:srgbClr val="263876"/>
          </a:solidFill>
          <a:ln/>
        </p:spPr>
      </p:sp>
      <p:sp>
        <p:nvSpPr>
          <p:cNvPr id="16" name="Shape 12"/>
          <p:cNvSpPr/>
          <p:nvPr/>
        </p:nvSpPr>
        <p:spPr>
          <a:xfrm>
            <a:off x="4370832" y="4069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on_trendingDow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027" y="425927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11880" y="498348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Caídas previas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54496" y="3749040"/>
            <a:ext cx="2578608" cy="2377440"/>
          </a:xfrm>
          <a:prstGeom prst="roundRect">
            <a:avLst>
              <a:gd name="adj" fmla="val 3846"/>
            </a:avLst>
          </a:prstGeom>
          <a:solidFill>
            <a:srgbClr val="263876"/>
          </a:solidFill>
          <a:ln/>
        </p:spPr>
      </p:sp>
      <p:sp>
        <p:nvSpPr>
          <p:cNvPr id="20" name="Shape 15"/>
          <p:cNvSpPr/>
          <p:nvPr/>
        </p:nvSpPr>
        <p:spPr>
          <a:xfrm>
            <a:off x="7178040" y="4069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_bar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235" y="425927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19088" y="498348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volumen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9061704" y="3749040"/>
            <a:ext cx="2578608" cy="2377440"/>
          </a:xfrm>
          <a:prstGeom prst="roundRect">
            <a:avLst>
              <a:gd name="adj" fmla="val 3846"/>
            </a:avLst>
          </a:prstGeom>
          <a:solidFill>
            <a:srgbClr val="263876"/>
          </a:solidFill>
          <a:ln/>
        </p:spPr>
      </p:sp>
      <p:sp>
        <p:nvSpPr>
          <p:cNvPr id="24" name="Shape 18"/>
          <p:cNvSpPr/>
          <p:nvPr/>
        </p:nvSpPr>
        <p:spPr>
          <a:xfrm>
            <a:off x="9985248" y="4069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icon_checkcirc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5443" y="4259275"/>
            <a:ext cx="351130" cy="35113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226296" y="498348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Mediciones prácticas de rentabilidad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módulos, una plataforma integral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23774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263876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2084832"/>
            <a:ext cx="640080" cy="640080"/>
          </a:xfrm>
          <a:prstGeom prst="ellipse">
            <a:avLst/>
          </a:prstGeom>
          <a:solidFill>
            <a:srgbClr val="324A9B"/>
          </a:solidFill>
          <a:ln/>
        </p:spPr>
      </p:sp>
      <p:pic>
        <p:nvPicPr>
          <p:cNvPr id="7" name="Image 0" descr="icon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413" y="2251253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88036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Comprobaciones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26280" y="1828800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263876"/>
          </a:solidFill>
          <a:ln/>
        </p:spPr>
      </p:sp>
      <p:sp>
        <p:nvSpPr>
          <p:cNvPr id="10" name="Shape 7"/>
          <p:cNvSpPr/>
          <p:nvPr/>
        </p:nvSpPr>
        <p:spPr>
          <a:xfrm>
            <a:off x="4782312" y="2084832"/>
            <a:ext cx="640080" cy="640080"/>
          </a:xfrm>
          <a:prstGeom prst="ellipse">
            <a:avLst/>
          </a:prstGeom>
          <a:solidFill>
            <a:srgbClr val="324A9B"/>
          </a:solidFill>
          <a:ln/>
        </p:spPr>
      </p:sp>
      <p:pic>
        <p:nvPicPr>
          <p:cNvPr id="11" name="Image 1" descr="icon_slid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733" y="2251253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288036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Técnicos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0" y="1828800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263876"/>
          </a:solidFill>
          <a:ln/>
        </p:spPr>
      </p:sp>
      <p:sp>
        <p:nvSpPr>
          <p:cNvPr id="14" name="Shape 10"/>
          <p:cNvSpPr/>
          <p:nvPr/>
        </p:nvSpPr>
        <p:spPr>
          <a:xfrm>
            <a:off x="8485632" y="2084832"/>
            <a:ext cx="640080" cy="640080"/>
          </a:xfrm>
          <a:prstGeom prst="ellipse">
            <a:avLst/>
          </a:prstGeom>
          <a:solidFill>
            <a:srgbClr val="324A9B"/>
          </a:solidFill>
          <a:ln/>
        </p:spPr>
      </p:sp>
      <p:pic>
        <p:nvPicPr>
          <p:cNvPr id="15" name="Image 2" descr="icon_targ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053" y="225125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88036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por Parámetros Técnicos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22960" y="4251960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263876"/>
          </a:solidFill>
          <a:ln/>
        </p:spPr>
      </p:sp>
      <p:sp>
        <p:nvSpPr>
          <p:cNvPr id="18" name="Shape 13"/>
          <p:cNvSpPr/>
          <p:nvPr/>
        </p:nvSpPr>
        <p:spPr>
          <a:xfrm>
            <a:off x="1078992" y="4507992"/>
            <a:ext cx="640080" cy="640080"/>
          </a:xfrm>
          <a:prstGeom prst="ellipse">
            <a:avLst/>
          </a:prstGeom>
          <a:solidFill>
            <a:srgbClr val="324A9B"/>
          </a:solidFill>
          <a:ln/>
        </p:spPr>
      </p:sp>
      <p:pic>
        <p:nvPicPr>
          <p:cNvPr id="19" name="Image 3" descr="icon_shuff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413" y="4674413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530352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Alternativos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526280" y="4251960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263876"/>
          </a:solidFill>
          <a:ln/>
        </p:spPr>
      </p:sp>
      <p:sp>
        <p:nvSpPr>
          <p:cNvPr id="22" name="Shape 16"/>
          <p:cNvSpPr/>
          <p:nvPr/>
        </p:nvSpPr>
        <p:spPr>
          <a:xfrm>
            <a:off x="4782312" y="4507992"/>
            <a:ext cx="640080" cy="640080"/>
          </a:xfrm>
          <a:prstGeom prst="ellipse">
            <a:avLst/>
          </a:prstGeom>
          <a:solidFill>
            <a:srgbClr val="324A9B"/>
          </a:solidFill>
          <a:ln/>
        </p:spPr>
      </p:sp>
      <p:pic>
        <p:nvPicPr>
          <p:cNvPr id="23" name="Image 4" descr="icon_activity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8733" y="4674413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754880" y="530352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Análisis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229600" y="4251960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263876"/>
          </a:solidFill>
          <a:ln/>
        </p:spPr>
      </p:sp>
      <p:sp>
        <p:nvSpPr>
          <p:cNvPr id="26" name="Shape 19"/>
          <p:cNvSpPr/>
          <p:nvPr/>
        </p:nvSpPr>
        <p:spPr>
          <a:xfrm>
            <a:off x="8485632" y="4507992"/>
            <a:ext cx="640080" cy="640080"/>
          </a:xfrm>
          <a:prstGeom prst="ellipse">
            <a:avLst/>
          </a:prstGeom>
          <a:solidFill>
            <a:srgbClr val="324A9B"/>
          </a:solidFill>
          <a:ln/>
        </p:spPr>
      </p:sp>
      <p:pic>
        <p:nvPicPr>
          <p:cNvPr id="27" name="Image 5" descr="icon_ale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2053" y="4674413"/>
            <a:ext cx="307238" cy="30723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458200" y="530352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Anomalías de Flujo de Dinero Bajo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2026-08-05T16:22:49Z</dcterms:created>
  <dcterms:modified xsi:type="dcterms:W3CDTF">2026-08-05T16:22:49Z</dcterms:modified>
</cp:coreProperties>
</file>